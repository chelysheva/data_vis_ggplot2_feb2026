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3" r:id="rId1"/>
  </p:sldMasterIdLst>
  <p:sldIdLst>
    <p:sldId id="256" r:id="rId2"/>
    <p:sldId id="303" r:id="rId3"/>
    <p:sldId id="260" r:id="rId4"/>
    <p:sldId id="295" r:id="rId5"/>
    <p:sldId id="296" r:id="rId6"/>
    <p:sldId id="297" r:id="rId7"/>
    <p:sldId id="304" r:id="rId8"/>
    <p:sldId id="298" r:id="rId9"/>
    <p:sldId id="266" r:id="rId10"/>
    <p:sldId id="267" r:id="rId11"/>
    <p:sldId id="268" r:id="rId12"/>
    <p:sldId id="269" r:id="rId13"/>
    <p:sldId id="270" r:id="rId14"/>
    <p:sldId id="282" r:id="rId15"/>
    <p:sldId id="299" r:id="rId16"/>
    <p:sldId id="300" r:id="rId17"/>
    <p:sldId id="301" r:id="rId18"/>
    <p:sldId id="258" r:id="rId19"/>
    <p:sldId id="259" r:id="rId20"/>
    <p:sldId id="280" r:id="rId21"/>
    <p:sldId id="278" r:id="rId22"/>
    <p:sldId id="302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6"/>
  </p:normalViewPr>
  <p:slideViewPr>
    <p:cSldViewPr snapToGrid="0">
      <p:cViewPr varScale="1">
        <p:scale>
          <a:sx n="115" d="100"/>
          <a:sy n="115" d="100"/>
        </p:scale>
        <p:origin x="66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855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5919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9765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1635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68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249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2786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4830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4162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357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4172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391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72" r:id="rId6"/>
    <p:sldLayoutId id="2147483667" r:id="rId7"/>
    <p:sldLayoutId id="2147483668" r:id="rId8"/>
    <p:sldLayoutId id="2147483669" r:id="rId9"/>
    <p:sldLayoutId id="2147483671" r:id="rId10"/>
    <p:sldLayoutId id="214748367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helysheva/data_vis_ggplot2_Dec2025/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swirlstats.com/students.html" TargetMode="External"/><Relationship Id="rId7" Type="http://schemas.openxmlformats.org/officeDocument/2006/relationships/hyperlink" Target="https://rstudio.com/resources/cheatsheets/" TargetMode="External"/><Relationship Id="rId2" Type="http://schemas.openxmlformats.org/officeDocument/2006/relationships/hyperlink" Target="https://bookdown.org/rdpeng/rprogdatascience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atrebas.github.io/post/2019-03-03-datatable-dplyr/" TargetMode="External"/><Relationship Id="rId5" Type="http://schemas.openxmlformats.org/officeDocument/2006/relationships/hyperlink" Target="https://cran.r-project.org/web/packages/data.table/vignettes/datatable-intro.html" TargetMode="External"/><Relationship Id="rId4" Type="http://schemas.openxmlformats.org/officeDocument/2006/relationships/hyperlink" Target="https://r4ds.had.co.nz/transform.html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colorbrewer2.org/" TargetMode="External"/><Relationship Id="rId2" Type="http://schemas.openxmlformats.org/officeDocument/2006/relationships/hyperlink" Target="https://github.com/EmilHvitfeldt/r-color-palettes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rosalind.info/problems/locations/" TargetMode="External"/><Relationship Id="rId5" Type="http://schemas.openxmlformats.org/officeDocument/2006/relationships/hyperlink" Target="https://carriebrown.github.io/r-novice-gapminder/challenges/" TargetMode="External"/><Relationship Id="rId4" Type="http://schemas.openxmlformats.org/officeDocument/2006/relationships/hyperlink" Target="https://jokergoo.github.io/ComplexHeatmap-reference/book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4" name="Picture 3" descr="Triangular abstract background">
            <a:extLst>
              <a:ext uri="{FF2B5EF4-FFF2-40B4-BE49-F238E27FC236}">
                <a16:creationId xmlns:a16="http://schemas.microsoft.com/office/drawing/2014/main" id="{D5D58044-5A4D-435B-B38C-10E82769E90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730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AB476BF-4EE2-5243-CABB-6CC72C39BF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507179" y="173181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0000"/>
                </a:schemeClr>
              </a:gs>
              <a:gs pos="26000">
                <a:schemeClr val="bg1">
                  <a:alpha val="17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46D173-8213-F49E-D308-D38C56060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06780" y="978409"/>
            <a:ext cx="4496529" cy="3678268"/>
          </a:xfrm>
        </p:spPr>
        <p:txBody>
          <a:bodyPr anchor="t">
            <a:normAutofit/>
          </a:bodyPr>
          <a:lstStyle/>
          <a:p>
            <a:pPr algn="ctr"/>
            <a:r>
              <a:rPr lang="en-GB" sz="4000" b="0" i="0" u="none" strike="noStrike" dirty="0">
                <a:solidFill>
                  <a:srgbClr val="203E58"/>
                </a:solidFill>
                <a:effectLst/>
              </a:rPr>
              <a:t>Data visualisation with ggplot2</a:t>
            </a:r>
            <a:endParaRPr lang="en-US" sz="166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2DFC6F-0BDD-5261-3F14-A83932ED34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03288" y="4729138"/>
            <a:ext cx="4488812" cy="1150453"/>
          </a:xfrm>
        </p:spPr>
        <p:txBody>
          <a:bodyPr anchor="b">
            <a:normAutofit/>
          </a:bodyPr>
          <a:lstStyle/>
          <a:p>
            <a:pPr algn="ctr"/>
            <a:r>
              <a:rPr lang="en-US" dirty="0"/>
              <a:t>Irina &amp; Rao</a:t>
            </a:r>
          </a:p>
          <a:p>
            <a:pPr algn="ctr"/>
            <a:r>
              <a:rPr lang="en-US" dirty="0"/>
              <a:t>01.12.2025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0D28EA4-6F96-F7C6-1D07-5BA5C27387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06781" y="508090"/>
            <a:ext cx="449275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DFF93C5-0576-D227-80A7-4CFBA8791A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10119" y="6209925"/>
            <a:ext cx="4492754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74887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stomShape 2">
            <a:extLst>
              <a:ext uri="{FF2B5EF4-FFF2-40B4-BE49-F238E27FC236}">
                <a16:creationId xmlns:a16="http://schemas.microsoft.com/office/drawing/2014/main" id="{F8D02884-8E2E-27CA-7DCD-6DCE968D87C7}"/>
              </a:ext>
            </a:extLst>
          </p:cNvPr>
          <p:cNvSpPr/>
          <p:nvPr/>
        </p:nvSpPr>
        <p:spPr>
          <a:xfrm>
            <a:off x="1630497" y="1709928"/>
            <a:ext cx="8619695" cy="4894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2800" tIns="41400" rIns="82800" bIns="41400" anchor="ctr">
            <a:normAutofit/>
          </a:bodyPr>
          <a:lstStyle/>
          <a:p>
            <a:pPr indent="-21600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Data </a:t>
            </a:r>
            <a:r>
              <a:rPr lang="en-US" sz="1600" b="1" strike="noStrike" spc="-1" dirty="0" err="1">
                <a:solidFill>
                  <a:srgbClr val="000000"/>
                </a:solidFill>
                <a:latin typeface="Calibri"/>
                <a:ea typeface="DejaVu Sans"/>
              </a:rPr>
              <a:t>Visualisation</a:t>
            </a:r>
            <a:endParaRPr lang="en-GB" sz="1600" b="0" strike="noStrike" spc="-1" dirty="0">
              <a:latin typeface="Arial"/>
            </a:endParaRPr>
          </a:p>
          <a:p>
            <a:pPr marL="457200" lvl="1" indent="-21600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Intro to ggplot2</a:t>
            </a:r>
            <a:endParaRPr lang="en-GB" sz="1600" b="0" strike="noStrike" spc="-1" dirty="0">
              <a:latin typeface="Arial"/>
            </a:endParaRPr>
          </a:p>
          <a:p>
            <a:pPr marL="457200" lvl="1" indent="-21600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Base R plotting vs ggplot2</a:t>
            </a:r>
            <a:endParaRPr lang="en-GB" sz="1600" b="0" strike="noStrike" spc="-1" dirty="0">
              <a:latin typeface="Arial"/>
            </a:endParaRPr>
          </a:p>
          <a:p>
            <a:pPr marL="457200" lvl="1" indent="-21600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ggplot2 syntax</a:t>
            </a:r>
            <a:endParaRPr lang="en-GB" sz="1600" b="0" strike="noStrike" spc="-1" dirty="0">
              <a:latin typeface="Arial"/>
            </a:endParaRPr>
          </a:p>
          <a:p>
            <a:pPr marL="457200" lvl="1" indent="-21600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Intro to factors</a:t>
            </a:r>
            <a:endParaRPr lang="en-GB" sz="1600" b="0" strike="noStrike" spc="-1" dirty="0">
              <a:latin typeface="Arial"/>
            </a:endParaRPr>
          </a:p>
          <a:p>
            <a:pPr marL="457200" lvl="1" indent="-21600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Reshaping </a:t>
            </a:r>
            <a:r>
              <a:rPr lang="en-US" sz="1600" b="0" strike="noStrike" spc="-1" dirty="0" err="1">
                <a:solidFill>
                  <a:srgbClr val="000000"/>
                </a:solidFill>
                <a:latin typeface="Calibri"/>
                <a:ea typeface="DejaVu Sans"/>
              </a:rPr>
              <a:t>data.frames</a:t>
            </a:r>
            <a:endParaRPr lang="en-GB" sz="1600" b="0" strike="noStrike" spc="-1" dirty="0">
              <a:latin typeface="Arial"/>
            </a:endParaRPr>
          </a:p>
          <a:p>
            <a:pPr marL="457200" lvl="1" indent="-21600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Plotting grouped data - Dot/box/bar plots</a:t>
            </a:r>
          </a:p>
          <a:p>
            <a:pPr marL="457200" lvl="1" indent="-21600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spc="-1" dirty="0">
                <a:solidFill>
                  <a:srgbClr val="000000"/>
                </a:solidFill>
                <a:latin typeface="Calibri"/>
              </a:rPr>
              <a:t>Calculating and adding statistics to the plots</a:t>
            </a:r>
            <a:endParaRPr lang="en-GB" sz="1600" b="0" strike="noStrike" spc="-1" dirty="0">
              <a:latin typeface="Arial"/>
            </a:endParaRPr>
          </a:p>
          <a:p>
            <a:pPr marL="457200" lvl="1" indent="-21600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b="0" strike="noStrike" spc="-1" dirty="0" err="1">
                <a:solidFill>
                  <a:srgbClr val="000000"/>
                </a:solidFill>
                <a:latin typeface="Calibri"/>
                <a:ea typeface="DejaVu Sans"/>
              </a:rPr>
              <a:t>Practical</a:t>
            </a:r>
            <a:r>
              <a:rPr lang="en-US" sz="1600" spc="-1" dirty="0" err="1">
                <a:solidFill>
                  <a:srgbClr val="000000"/>
                </a:solidFill>
                <a:latin typeface="Calibri"/>
                <a:ea typeface="DejaVu Sans"/>
              </a:rPr>
              <a:t>s</a:t>
            </a:r>
            <a:endParaRPr lang="en-GB" sz="1600" b="0" strike="noStrike" spc="-1" dirty="0">
              <a:latin typeface="Arial"/>
            </a:endParaRPr>
          </a:p>
          <a:p>
            <a:pPr marL="914400" lvl="2" indent="-21564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OWID Covid data</a:t>
            </a:r>
          </a:p>
          <a:p>
            <a:pPr marL="914400" lvl="2" indent="-21564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Covid vaccine data</a:t>
            </a:r>
          </a:p>
          <a:p>
            <a:pPr indent="-215640"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</a:pPr>
            <a:endParaRPr lang="en-US" sz="1600" spc="-1" dirty="0">
              <a:solidFill>
                <a:srgbClr val="000000"/>
              </a:solidFill>
              <a:latin typeface="Calibri"/>
            </a:endParaRPr>
          </a:p>
          <a:p>
            <a:pPr indent="-215640"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</a:pPr>
            <a:r>
              <a:rPr lang="en-US" sz="1600" b="0" strike="noStrike" spc="-1" dirty="0">
                <a:solidFill>
                  <a:srgbClr val="000000"/>
                </a:solidFill>
                <a:latin typeface="Calibri"/>
              </a:rPr>
              <a:t>GitHub repository: </a:t>
            </a:r>
            <a:r>
              <a:rPr lang="en-US" sz="1600" spc="-1" dirty="0">
                <a:solidFill>
                  <a:srgbClr val="000000"/>
                </a:solidFill>
                <a:latin typeface="Calibri"/>
                <a:hlinkClick r:id="rId2"/>
              </a:rPr>
              <a:t>https://github.com/Chelysheva/data_vis_ggplot2_Dec2025</a:t>
            </a:r>
            <a:r>
              <a:rPr lang="en-US" sz="1600" spc="-1" dirty="0">
                <a:solidFill>
                  <a:srgbClr val="000000"/>
                </a:solidFill>
                <a:latin typeface="Calibri"/>
              </a:rPr>
              <a:t> </a:t>
            </a:r>
            <a:endParaRPr lang="en-GB" sz="1600" b="0" strike="noStrike" spc="-1" dirty="0">
              <a:latin typeface="Arial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7A09486-736A-6764-EA03-4901C7983241}"/>
              </a:ext>
            </a:extLst>
          </p:cNvPr>
          <p:cNvSpPr txBox="1">
            <a:spLocks/>
          </p:cNvSpPr>
          <p:nvPr/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Today’s plan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0171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" name="Picture 3"/>
          <p:cNvPicPr/>
          <p:nvPr/>
        </p:nvPicPr>
        <p:blipFill>
          <a:blip r:embed="rId2"/>
          <a:stretch/>
        </p:blipFill>
        <p:spPr>
          <a:xfrm>
            <a:off x="9030147" y="64800"/>
            <a:ext cx="2595600" cy="1883160"/>
          </a:xfrm>
          <a:prstGeom prst="rect">
            <a:avLst/>
          </a:prstGeom>
          <a:ln>
            <a:noFill/>
          </a:ln>
        </p:spPr>
      </p:pic>
      <p:sp>
        <p:nvSpPr>
          <p:cNvPr id="169" name="CustomShape 1"/>
          <p:cNvSpPr/>
          <p:nvPr/>
        </p:nvSpPr>
        <p:spPr>
          <a:xfrm>
            <a:off x="1981560" y="-1440"/>
            <a:ext cx="8228160" cy="11440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 dirty="0">
                <a:latin typeface="Calibri" panose="020F0502020204030204" pitchFamily="34" charset="0"/>
                <a:ea typeface="DejaVu Sans"/>
                <a:cs typeface="Calibri" panose="020F0502020204030204" pitchFamily="34" charset="0"/>
              </a:rPr>
              <a:t>Visualising data in R</a:t>
            </a:r>
            <a:endParaRPr lang="en-GB" sz="4400" spc="-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0" name="CustomShape 2"/>
          <p:cNvSpPr/>
          <p:nvPr/>
        </p:nvSpPr>
        <p:spPr>
          <a:xfrm>
            <a:off x="1981200" y="1143360"/>
            <a:ext cx="5365800" cy="5029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>
            <a:normAutofit/>
          </a:bodyPr>
          <a:lstStyle/>
          <a:p>
            <a:pPr marL="343080" indent="-342360"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spc="-1">
                <a:solidFill>
                  <a:srgbClr val="000000"/>
                </a:solidFill>
                <a:latin typeface="Calibri"/>
                <a:ea typeface="DejaVu Sans"/>
              </a:rPr>
              <a:t>Base R plotting (e.g. plot() function)</a:t>
            </a:r>
            <a:endParaRPr lang="en-GB" sz="2180" spc="-1">
              <a:latin typeface="Arial"/>
            </a:endParaRPr>
          </a:p>
          <a:p>
            <a:pPr marL="457200">
              <a:spcBef>
                <a:spcPts val="357"/>
              </a:spcBef>
              <a:tabLst>
                <a:tab pos="0" algn="l"/>
              </a:tabLst>
            </a:pPr>
            <a:r>
              <a:rPr lang="en-GB" sz="1779" spc="-1">
                <a:solidFill>
                  <a:srgbClr val="000000"/>
                </a:solidFill>
                <a:latin typeface="Courier New"/>
                <a:ea typeface="DejaVu Sans"/>
              </a:rPr>
              <a:t>plot(x = iris$Sepal.Length, y = iris$Petal.Length, col = iris$Species)</a:t>
            </a:r>
            <a:endParaRPr lang="en-GB" sz="1779" spc="-1">
              <a:latin typeface="Arial"/>
            </a:endParaRPr>
          </a:p>
          <a:p>
            <a:pPr marL="343080" indent="-342360">
              <a:spcBef>
                <a:spcPts val="437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180" spc="-1">
                <a:solidFill>
                  <a:srgbClr val="000000"/>
                </a:solidFill>
                <a:latin typeface="Calibri"/>
                <a:ea typeface="DejaVu Sans"/>
              </a:rPr>
              <a:t>ggplot2 package</a:t>
            </a:r>
            <a:endParaRPr lang="en-GB" sz="2180" spc="-1">
              <a:latin typeface="Arial"/>
            </a:endParaRPr>
          </a:p>
          <a:p>
            <a:pPr marL="457200">
              <a:spcBef>
                <a:spcPts val="357"/>
              </a:spcBef>
              <a:tabLst>
                <a:tab pos="0" algn="l"/>
              </a:tabLst>
            </a:pPr>
            <a:r>
              <a:rPr lang="en-GB" sz="1779" spc="-1">
                <a:solidFill>
                  <a:srgbClr val="000000"/>
                </a:solidFill>
                <a:latin typeface="Courier New"/>
                <a:ea typeface="DejaVu Sans"/>
              </a:rPr>
              <a:t>ggplot(iris, aes(x = Sepal.Length, y = Petal.Length, colour = Species)) + geom_point()</a:t>
            </a:r>
            <a:endParaRPr lang="en-GB" sz="1779" spc="-1">
              <a:latin typeface="Arial"/>
            </a:endParaRPr>
          </a:p>
          <a:p>
            <a:pPr marL="343080" indent="-342360">
              <a:spcBef>
                <a:spcPts val="437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180" spc="-1">
                <a:solidFill>
                  <a:srgbClr val="000000"/>
                </a:solidFill>
                <a:latin typeface="Calibri"/>
                <a:ea typeface="DejaVu Sans"/>
              </a:rPr>
              <a:t>Lattice package</a:t>
            </a:r>
            <a:endParaRPr lang="en-GB" sz="2180" spc="-1">
              <a:latin typeface="Arial"/>
            </a:endParaRPr>
          </a:p>
          <a:p>
            <a:pPr marL="457200">
              <a:spcBef>
                <a:spcPts val="357"/>
              </a:spcBef>
              <a:tabLst>
                <a:tab pos="0" algn="l"/>
              </a:tabLst>
            </a:pPr>
            <a:r>
              <a:rPr lang="en-GB" sz="1779" spc="-1">
                <a:solidFill>
                  <a:srgbClr val="000000"/>
                </a:solidFill>
                <a:latin typeface="Courier New"/>
                <a:ea typeface="DejaVu Sans"/>
              </a:rPr>
              <a:t>xyplot(Sepal.Length ~ Petal.Length, data = iris, groups = Species)</a:t>
            </a:r>
            <a:endParaRPr lang="en-GB" sz="1779" spc="-1">
              <a:latin typeface="Arial"/>
            </a:endParaRPr>
          </a:p>
          <a:p>
            <a:pPr marL="343080" indent="-342360">
              <a:spcBef>
                <a:spcPts val="437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180" spc="-1">
                <a:solidFill>
                  <a:srgbClr val="000000"/>
                </a:solidFill>
                <a:latin typeface="Calibri"/>
                <a:ea typeface="DejaVu Sans"/>
              </a:rPr>
              <a:t>Grid package</a:t>
            </a:r>
            <a:endParaRPr lang="en-GB" sz="2180" spc="-1">
              <a:latin typeface="Arial"/>
            </a:endParaRPr>
          </a:p>
          <a:p>
            <a:pPr marL="743040" lvl="1" indent="-285120">
              <a:spcBef>
                <a:spcPts val="357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1779" spc="-1">
                <a:solidFill>
                  <a:srgbClr val="000000"/>
                </a:solidFill>
                <a:latin typeface="Calibri"/>
                <a:ea typeface="DejaVu Sans"/>
              </a:rPr>
              <a:t>Low level plotting (both ggplot2 and lattice built on grid graphics)</a:t>
            </a:r>
            <a:endParaRPr lang="en-GB" sz="1779" spc="-1">
              <a:latin typeface="Arial"/>
            </a:endParaRPr>
          </a:p>
          <a:p>
            <a:pPr marL="150840">
              <a:spcBef>
                <a:spcPts val="437"/>
              </a:spcBef>
              <a:tabLst>
                <a:tab pos="0" algn="l"/>
              </a:tabLst>
            </a:pPr>
            <a:endParaRPr lang="en-GB" sz="1779" spc="-1">
              <a:latin typeface="Arial"/>
            </a:endParaRPr>
          </a:p>
        </p:txBody>
      </p:sp>
      <p:pic>
        <p:nvPicPr>
          <p:cNvPr id="171" name="Picture 4"/>
          <p:cNvPicPr/>
          <p:nvPr/>
        </p:nvPicPr>
        <p:blipFill>
          <a:blip r:embed="rId3"/>
          <a:stretch/>
        </p:blipFill>
        <p:spPr>
          <a:xfrm>
            <a:off x="9030147" y="4116058"/>
            <a:ext cx="2595600" cy="2192400"/>
          </a:xfrm>
          <a:prstGeom prst="rect">
            <a:avLst/>
          </a:prstGeom>
          <a:ln>
            <a:noFill/>
          </a:ln>
        </p:spPr>
      </p:pic>
      <p:pic>
        <p:nvPicPr>
          <p:cNvPr id="172" name="Picture 7"/>
          <p:cNvPicPr/>
          <p:nvPr/>
        </p:nvPicPr>
        <p:blipFill>
          <a:blip r:embed="rId4"/>
          <a:stretch/>
        </p:blipFill>
        <p:spPr>
          <a:xfrm>
            <a:off x="9162350" y="2014200"/>
            <a:ext cx="2595600" cy="21924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CustomShape 1"/>
          <p:cNvSpPr/>
          <p:nvPr/>
        </p:nvSpPr>
        <p:spPr>
          <a:xfrm>
            <a:off x="1981560" y="-1440"/>
            <a:ext cx="8228160" cy="11440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 dirty="0">
                <a:latin typeface="Calibri" panose="020F0502020204030204" pitchFamily="34" charset="0"/>
                <a:ea typeface="DejaVu Sans"/>
                <a:cs typeface="Calibri" panose="020F0502020204030204" pitchFamily="34" charset="0"/>
              </a:rPr>
              <a:t>Graphics devices in R</a:t>
            </a:r>
            <a:endParaRPr lang="en-GB" sz="4400" spc="-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4" name="CustomShape 2"/>
          <p:cNvSpPr/>
          <p:nvPr/>
        </p:nvSpPr>
        <p:spPr>
          <a:xfrm>
            <a:off x="1981200" y="1143360"/>
            <a:ext cx="8228160" cy="5029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>
            <a:normAutofit lnSpcReduction="10000"/>
          </a:bodyPr>
          <a:lstStyle/>
          <a:p>
            <a:pPr marL="343080" indent="-342360"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spc="-1">
                <a:solidFill>
                  <a:srgbClr val="000000"/>
                </a:solidFill>
                <a:latin typeface="Calibri"/>
                <a:ea typeface="DejaVu Sans"/>
              </a:rPr>
              <a:t>The plotting window in Rstudio</a:t>
            </a:r>
            <a:endParaRPr lang="en-GB" sz="2180" spc="-1">
              <a:latin typeface="Arial"/>
            </a:endParaRPr>
          </a:p>
          <a:p>
            <a:pPr marL="743040" lvl="1" indent="-285120">
              <a:spcBef>
                <a:spcPts val="357"/>
              </a:spcBef>
              <a:buClr>
                <a:srgbClr val="000000"/>
              </a:buClr>
              <a:buFont typeface="Arial"/>
              <a:buChar char="–"/>
            </a:pPr>
            <a:r>
              <a:rPr lang="en-GB" sz="1779" spc="-1">
                <a:solidFill>
                  <a:srgbClr val="000000"/>
                </a:solidFill>
                <a:latin typeface="Calibri"/>
                <a:ea typeface="DejaVu Sans"/>
              </a:rPr>
              <a:t>Needs to be saved manually</a:t>
            </a:r>
            <a:endParaRPr lang="en-GB" sz="1779" spc="-1">
              <a:latin typeface="Arial"/>
            </a:endParaRPr>
          </a:p>
          <a:p>
            <a:pPr marL="743040" lvl="1" indent="-285120">
              <a:spcBef>
                <a:spcPts val="357"/>
              </a:spcBef>
              <a:buClr>
                <a:srgbClr val="000000"/>
              </a:buClr>
              <a:buFont typeface="Arial"/>
              <a:buChar char="–"/>
            </a:pPr>
            <a:r>
              <a:rPr lang="en-GB" sz="1779" spc="-1">
                <a:solidFill>
                  <a:srgbClr val="000000"/>
                </a:solidFill>
                <a:latin typeface="Calibri"/>
                <a:ea typeface="DejaVu Sans"/>
              </a:rPr>
              <a:t>Size of the figure can be adjusted manually</a:t>
            </a:r>
            <a:endParaRPr lang="en-GB" sz="1779" spc="-1">
              <a:latin typeface="Arial"/>
            </a:endParaRPr>
          </a:p>
          <a:p>
            <a:pPr marL="743040" lvl="1" indent="-285120">
              <a:spcBef>
                <a:spcPts val="357"/>
              </a:spcBef>
              <a:buClr>
                <a:srgbClr val="000000"/>
              </a:buClr>
              <a:buFont typeface="Arial"/>
              <a:buChar char="–"/>
            </a:pPr>
            <a:r>
              <a:rPr lang="en-GB" sz="1779" spc="-1">
                <a:solidFill>
                  <a:srgbClr val="000000"/>
                </a:solidFill>
                <a:latin typeface="Calibri"/>
                <a:ea typeface="DejaVu Sans"/>
              </a:rPr>
              <a:t>Can be copied to clipboard from RStudio</a:t>
            </a:r>
            <a:endParaRPr lang="en-GB" sz="1779" spc="-1">
              <a:latin typeface="Arial"/>
            </a:endParaRPr>
          </a:p>
          <a:p>
            <a:pPr marL="743040" lvl="1" indent="-285120">
              <a:spcBef>
                <a:spcPts val="357"/>
              </a:spcBef>
              <a:buClr>
                <a:srgbClr val="000000"/>
              </a:buClr>
              <a:buFont typeface="Arial"/>
              <a:buChar char="–"/>
            </a:pPr>
            <a:r>
              <a:rPr lang="en-GB" sz="1779" spc="-1">
                <a:solidFill>
                  <a:srgbClr val="000000"/>
                </a:solidFill>
                <a:latin typeface="Calibri"/>
                <a:ea typeface="DejaVu Sans"/>
              </a:rPr>
              <a:t>For quick exploratory visualisation</a:t>
            </a:r>
            <a:endParaRPr lang="en-GB" sz="1779" spc="-1">
              <a:latin typeface="Arial"/>
            </a:endParaRPr>
          </a:p>
          <a:p>
            <a:pPr marL="457200">
              <a:spcBef>
                <a:spcPts val="357"/>
              </a:spcBef>
              <a:tabLst>
                <a:tab pos="0" algn="l"/>
              </a:tabLst>
            </a:pPr>
            <a:endParaRPr lang="en-GB" sz="1779" spc="-1">
              <a:latin typeface="Arial"/>
            </a:endParaRPr>
          </a:p>
          <a:p>
            <a:pPr marL="343080" indent="-342360">
              <a:spcBef>
                <a:spcPts val="437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180" spc="-1">
                <a:solidFill>
                  <a:srgbClr val="000000"/>
                </a:solidFill>
                <a:latin typeface="Calibri"/>
                <a:ea typeface="DejaVu Sans"/>
              </a:rPr>
              <a:t>A file (svg, png, pdf, tiff, jpeg, bmp)</a:t>
            </a:r>
            <a:endParaRPr lang="en-GB" sz="2180" spc="-1">
              <a:latin typeface="Arial"/>
            </a:endParaRPr>
          </a:p>
          <a:p>
            <a:pPr marL="743040" lvl="1" indent="-285120">
              <a:spcBef>
                <a:spcPts val="357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GB" sz="1779" spc="-1">
                <a:solidFill>
                  <a:srgbClr val="000000"/>
                </a:solidFill>
                <a:latin typeface="Calibri"/>
                <a:ea typeface="DejaVu Sans"/>
              </a:rPr>
              <a:t>Saved to file from code</a:t>
            </a:r>
            <a:endParaRPr lang="en-GB" sz="1779" spc="-1">
              <a:latin typeface="Arial"/>
            </a:endParaRPr>
          </a:p>
          <a:p>
            <a:pPr marL="743040" lvl="1" indent="-285120">
              <a:spcBef>
                <a:spcPts val="357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GB" sz="1779" spc="-1">
                <a:solidFill>
                  <a:srgbClr val="000000"/>
                </a:solidFill>
                <a:latin typeface="Calibri"/>
                <a:ea typeface="DejaVu Sans"/>
              </a:rPr>
              <a:t>Size of the figure can be specified in the code</a:t>
            </a:r>
            <a:endParaRPr lang="en-GB" sz="1779" spc="-1">
              <a:latin typeface="Arial"/>
            </a:endParaRPr>
          </a:p>
          <a:p>
            <a:pPr marL="743040" lvl="1" indent="-285120">
              <a:spcBef>
                <a:spcPts val="357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GB" sz="1779" spc="-1">
                <a:solidFill>
                  <a:srgbClr val="000000"/>
                </a:solidFill>
                <a:latin typeface="Calibri"/>
                <a:ea typeface="DejaVu Sans"/>
              </a:rPr>
              <a:t>For creating reproducible figures</a:t>
            </a:r>
            <a:endParaRPr lang="en-GB" sz="1779" spc="-1">
              <a:latin typeface="Arial"/>
            </a:endParaRPr>
          </a:p>
          <a:p>
            <a:pPr marL="743040" lvl="1" indent="-285120">
              <a:spcBef>
                <a:spcPts val="357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GB" sz="1779" spc="-1">
                <a:solidFill>
                  <a:srgbClr val="000000"/>
                </a:solidFill>
                <a:latin typeface="Courier New"/>
                <a:ea typeface="DejaVu Sans"/>
              </a:rPr>
              <a:t>png(), pdf(), svg(), ggsave() </a:t>
            </a:r>
            <a:r>
              <a:rPr lang="en-GB" sz="1779" spc="-1">
                <a:solidFill>
                  <a:srgbClr val="000000"/>
                </a:solidFill>
                <a:latin typeface="Calibri"/>
                <a:ea typeface="DejaVu Sans"/>
              </a:rPr>
              <a:t>are functions to save plots</a:t>
            </a:r>
            <a:endParaRPr lang="en-GB" sz="1779" spc="-1">
              <a:latin typeface="Arial"/>
            </a:endParaRPr>
          </a:p>
          <a:p>
            <a:pPr marL="343080" indent="-342360">
              <a:spcBef>
                <a:spcPts val="437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180" spc="-1">
                <a:solidFill>
                  <a:srgbClr val="000000"/>
                </a:solidFill>
                <a:latin typeface="Calibri"/>
                <a:ea typeface="DejaVu Sans"/>
              </a:rPr>
              <a:t>Start or close graphical devices with </a:t>
            </a:r>
            <a:r>
              <a:rPr lang="en-GB" sz="2180" spc="-1">
                <a:solidFill>
                  <a:srgbClr val="000000"/>
                </a:solidFill>
                <a:latin typeface="Courier New"/>
                <a:ea typeface="DejaVu Sans"/>
              </a:rPr>
              <a:t>dev.new()</a:t>
            </a:r>
            <a:r>
              <a:rPr lang="en-GB" sz="2180" spc="-1">
                <a:solidFill>
                  <a:srgbClr val="000000"/>
                </a:solidFill>
                <a:latin typeface="Calibri"/>
                <a:ea typeface="DejaVu Sans"/>
              </a:rPr>
              <a:t> or </a:t>
            </a:r>
            <a:r>
              <a:rPr lang="en-GB" sz="2180" spc="-1">
                <a:solidFill>
                  <a:srgbClr val="000000"/>
                </a:solidFill>
                <a:latin typeface="Courier New"/>
                <a:ea typeface="DejaVu Sans"/>
              </a:rPr>
              <a:t>dev.off()</a:t>
            </a:r>
            <a:r>
              <a:rPr lang="en-GB" sz="2180" spc="-1">
                <a:solidFill>
                  <a:srgbClr val="000000"/>
                </a:solidFill>
                <a:latin typeface="Calibri"/>
                <a:ea typeface="DejaVu Sans"/>
              </a:rPr>
              <a:t> respectively</a:t>
            </a:r>
            <a:endParaRPr lang="en-GB" sz="2180" spc="-1">
              <a:latin typeface="Arial"/>
            </a:endParaRPr>
          </a:p>
          <a:p>
            <a:pPr marL="743040" lvl="1" indent="-285120">
              <a:spcBef>
                <a:spcPts val="357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GB" sz="1779" spc="-1">
                <a:solidFill>
                  <a:srgbClr val="000000"/>
                </a:solidFill>
                <a:latin typeface="Calibri"/>
                <a:ea typeface="DejaVu Sans"/>
              </a:rPr>
              <a:t>Tip: If your plot is not showing up on the window or file that you are expecting it to, you are probably drawing on the wrong device. </a:t>
            </a:r>
            <a:r>
              <a:rPr lang="en-GB" sz="1779" spc="-1">
                <a:solidFill>
                  <a:srgbClr val="000000"/>
                </a:solidFill>
                <a:latin typeface="Courier New"/>
                <a:ea typeface="DejaVu Sans"/>
              </a:rPr>
              <a:t>dev.off()</a:t>
            </a:r>
            <a:r>
              <a:rPr lang="en-GB" sz="1779" spc="-1">
                <a:solidFill>
                  <a:srgbClr val="000000"/>
                </a:solidFill>
                <a:latin typeface="Calibri"/>
                <a:ea typeface="DejaVu Sans"/>
              </a:rPr>
              <a:t> may solve this issue.</a:t>
            </a:r>
            <a:endParaRPr lang="en-GB" sz="1779" spc="-1">
              <a:latin typeface="Arial"/>
            </a:endParaRPr>
          </a:p>
          <a:p>
            <a:pPr>
              <a:spcBef>
                <a:spcPts val="357"/>
              </a:spcBef>
              <a:tabLst>
                <a:tab pos="0" algn="l"/>
              </a:tabLst>
            </a:pPr>
            <a:endParaRPr lang="en-GB" sz="1779" spc="-1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CustomShape 1"/>
          <p:cNvSpPr/>
          <p:nvPr/>
        </p:nvSpPr>
        <p:spPr>
          <a:xfrm>
            <a:off x="0" y="3772730"/>
            <a:ext cx="7389720" cy="193753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200" spc="-1" dirty="0" err="1">
                <a:solidFill>
                  <a:srgbClr val="000000"/>
                </a:solidFill>
                <a:latin typeface="Courier New"/>
                <a:ea typeface="DejaVu Sans"/>
              </a:rPr>
              <a:t>ggplot</a:t>
            </a: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(</a:t>
            </a:r>
            <a:r>
              <a:rPr lang="en-GB" sz="1200" spc="-1" dirty="0" err="1">
                <a:solidFill>
                  <a:srgbClr val="000000"/>
                </a:solidFill>
                <a:latin typeface="Courier New"/>
                <a:ea typeface="DejaVu Sans"/>
              </a:rPr>
              <a:t>owid_covid_newyear</a:t>
            </a: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, </a:t>
            </a:r>
            <a:r>
              <a:rPr lang="en-GB" sz="1200" spc="-1" dirty="0" err="1">
                <a:solidFill>
                  <a:srgbClr val="000000"/>
                </a:solidFill>
                <a:latin typeface="Courier New"/>
                <a:ea typeface="DejaVu Sans"/>
              </a:rPr>
              <a:t>aes</a:t>
            </a: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(x = </a:t>
            </a:r>
            <a:r>
              <a:rPr lang="en-GB" sz="1200" spc="-1" dirty="0" err="1">
                <a:solidFill>
                  <a:srgbClr val="000000"/>
                </a:solidFill>
                <a:latin typeface="Courier New"/>
                <a:ea typeface="DejaVu Sans"/>
              </a:rPr>
              <a:t>total_cases</a:t>
            </a: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, y = </a:t>
            </a:r>
            <a:r>
              <a:rPr lang="en-GB" sz="1200" spc="-1" dirty="0" err="1">
                <a:solidFill>
                  <a:srgbClr val="000000"/>
                </a:solidFill>
                <a:latin typeface="Courier New"/>
                <a:ea typeface="DejaVu Sans"/>
              </a:rPr>
              <a:t>total_deaths</a:t>
            </a: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)) + </a:t>
            </a:r>
            <a:endParaRPr lang="en-GB" sz="12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lang="en-GB" sz="1200" spc="-1" dirty="0" err="1">
                <a:solidFill>
                  <a:srgbClr val="000000"/>
                </a:solidFill>
                <a:latin typeface="Courier New"/>
                <a:ea typeface="DejaVu Sans"/>
              </a:rPr>
              <a:t>geom_point</a:t>
            </a: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() + </a:t>
            </a:r>
            <a:endParaRPr lang="en-GB" sz="12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    scale_x_log10() + </a:t>
            </a:r>
            <a:endParaRPr lang="en-GB" sz="12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    scale_y_log10() + </a:t>
            </a:r>
            <a:endParaRPr lang="en-GB" sz="12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lang="en-GB" sz="1200" spc="-1" dirty="0" err="1">
                <a:solidFill>
                  <a:srgbClr val="000000"/>
                </a:solidFill>
                <a:latin typeface="Courier New"/>
                <a:ea typeface="DejaVu Sans"/>
              </a:rPr>
              <a:t>geom_smooth</a:t>
            </a: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(method = "</a:t>
            </a:r>
            <a:r>
              <a:rPr lang="en-GB" sz="1200" spc="-1" dirty="0" err="1">
                <a:solidFill>
                  <a:srgbClr val="000000"/>
                </a:solidFill>
                <a:latin typeface="Courier New"/>
                <a:ea typeface="DejaVu Sans"/>
              </a:rPr>
              <a:t>lm</a:t>
            </a: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") + </a:t>
            </a:r>
            <a:endParaRPr lang="en-GB" sz="12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lang="en-GB" sz="1200" spc="-1" dirty="0" err="1">
                <a:solidFill>
                  <a:srgbClr val="000000"/>
                </a:solidFill>
                <a:latin typeface="Courier New"/>
                <a:ea typeface="DejaVu Sans"/>
              </a:rPr>
              <a:t>ggtitle</a:t>
            </a: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("OWID Covid data for Jan 01 2021: Total Cases vs. Total Deaths") + </a:t>
            </a:r>
            <a:endParaRPr lang="en-GB" sz="12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lang="en-GB" sz="1200" spc="-1" dirty="0" err="1">
                <a:solidFill>
                  <a:srgbClr val="000000"/>
                </a:solidFill>
                <a:latin typeface="Courier New"/>
                <a:ea typeface="DejaVu Sans"/>
              </a:rPr>
              <a:t>xlab</a:t>
            </a: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("Total cases") + </a:t>
            </a:r>
            <a:endParaRPr lang="en-GB" sz="12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lang="en-GB" sz="1200" spc="-1" dirty="0" err="1">
                <a:solidFill>
                  <a:srgbClr val="000000"/>
                </a:solidFill>
                <a:latin typeface="Courier New"/>
                <a:ea typeface="DejaVu Sans"/>
              </a:rPr>
              <a:t>ylab</a:t>
            </a: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("Total deaths") + </a:t>
            </a:r>
            <a:endParaRPr lang="en-GB" sz="12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lang="en-GB" sz="1200" spc="-1" dirty="0" err="1">
                <a:solidFill>
                  <a:srgbClr val="000000"/>
                </a:solidFill>
                <a:latin typeface="Courier New"/>
                <a:ea typeface="DejaVu Sans"/>
              </a:rPr>
              <a:t>theme_bw</a:t>
            </a: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() + </a:t>
            </a:r>
            <a:endParaRPr lang="en-GB" sz="12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    theme(</a:t>
            </a:r>
            <a:r>
              <a:rPr lang="en-GB" sz="1200" spc="-1" dirty="0" err="1">
                <a:solidFill>
                  <a:srgbClr val="000000"/>
                </a:solidFill>
                <a:latin typeface="Courier New"/>
                <a:ea typeface="DejaVu Sans"/>
              </a:rPr>
              <a:t>panel.grid</a:t>
            </a: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 = </a:t>
            </a:r>
            <a:r>
              <a:rPr lang="en-GB" sz="1200" spc="-1" dirty="0" err="1">
                <a:solidFill>
                  <a:srgbClr val="000000"/>
                </a:solidFill>
                <a:latin typeface="Courier New"/>
                <a:ea typeface="DejaVu Sans"/>
              </a:rPr>
              <a:t>element_blank</a:t>
            </a:r>
            <a:r>
              <a:rPr lang="en-GB" sz="1200" spc="-1" dirty="0">
                <a:solidFill>
                  <a:srgbClr val="000000"/>
                </a:solidFill>
                <a:latin typeface="Courier New"/>
                <a:ea typeface="DejaVu Sans"/>
              </a:rPr>
              <a:t>())</a:t>
            </a:r>
            <a:endParaRPr lang="en-GB" sz="1200" spc="-1" dirty="0">
              <a:latin typeface="Arial"/>
            </a:endParaRPr>
          </a:p>
        </p:txBody>
      </p:sp>
      <p:sp>
        <p:nvSpPr>
          <p:cNvPr id="176" name="CustomShape 2"/>
          <p:cNvSpPr/>
          <p:nvPr/>
        </p:nvSpPr>
        <p:spPr>
          <a:xfrm>
            <a:off x="1981560" y="0"/>
            <a:ext cx="8228160" cy="11440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 dirty="0">
                <a:latin typeface="Calibri" panose="020F0502020204030204" pitchFamily="34" charset="0"/>
                <a:ea typeface="DejaVu Sans"/>
                <a:cs typeface="Calibri" panose="020F0502020204030204" pitchFamily="34" charset="0"/>
              </a:rPr>
              <a:t>Building a graph step-by-step with ggplot2</a:t>
            </a:r>
            <a:endParaRPr lang="en-GB" sz="4400" spc="-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77" name="Picture 5"/>
          <p:cNvPicPr/>
          <p:nvPr/>
        </p:nvPicPr>
        <p:blipFill>
          <a:blip r:embed="rId2"/>
          <a:stretch/>
        </p:blipFill>
        <p:spPr>
          <a:xfrm>
            <a:off x="1639560" y="647640"/>
            <a:ext cx="3472200" cy="2932920"/>
          </a:xfrm>
          <a:prstGeom prst="rect">
            <a:avLst/>
          </a:prstGeom>
          <a:ln>
            <a:noFill/>
          </a:ln>
        </p:spPr>
      </p:pic>
      <p:pic>
        <p:nvPicPr>
          <p:cNvPr id="178" name="Picture 6"/>
          <p:cNvPicPr/>
          <p:nvPr/>
        </p:nvPicPr>
        <p:blipFill>
          <a:blip r:embed="rId3"/>
          <a:stretch/>
        </p:blipFill>
        <p:spPr>
          <a:xfrm>
            <a:off x="6608204" y="1772535"/>
            <a:ext cx="5377680" cy="4542120"/>
          </a:xfrm>
          <a:prstGeom prst="rect">
            <a:avLst/>
          </a:prstGeom>
          <a:ln>
            <a:noFill/>
          </a:ln>
        </p:spPr>
      </p:pic>
      <p:sp>
        <p:nvSpPr>
          <p:cNvPr id="179" name="CustomShape 3"/>
          <p:cNvSpPr/>
          <p:nvPr/>
        </p:nvSpPr>
        <p:spPr>
          <a:xfrm>
            <a:off x="9170324" y="3917055"/>
            <a:ext cx="253800" cy="2538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180" name="Picture 14"/>
          <p:cNvPicPr/>
          <p:nvPr/>
        </p:nvPicPr>
        <p:blipFill>
          <a:blip r:embed="rId4"/>
          <a:stretch/>
        </p:blipFill>
        <p:spPr>
          <a:xfrm>
            <a:off x="6608204" y="1772535"/>
            <a:ext cx="5377680" cy="4542120"/>
          </a:xfrm>
          <a:prstGeom prst="rect">
            <a:avLst/>
          </a:prstGeom>
          <a:ln>
            <a:noFill/>
          </a:ln>
        </p:spPr>
      </p:pic>
      <p:pic>
        <p:nvPicPr>
          <p:cNvPr id="181" name="Picture 17"/>
          <p:cNvPicPr/>
          <p:nvPr/>
        </p:nvPicPr>
        <p:blipFill>
          <a:blip r:embed="rId5"/>
          <a:stretch/>
        </p:blipFill>
        <p:spPr>
          <a:xfrm>
            <a:off x="6608204" y="1772535"/>
            <a:ext cx="5377680" cy="4542120"/>
          </a:xfrm>
          <a:prstGeom prst="rect">
            <a:avLst/>
          </a:prstGeom>
          <a:ln>
            <a:noFill/>
          </a:ln>
        </p:spPr>
      </p:pic>
      <p:pic>
        <p:nvPicPr>
          <p:cNvPr id="182" name="Picture 19"/>
          <p:cNvPicPr/>
          <p:nvPr/>
        </p:nvPicPr>
        <p:blipFill>
          <a:blip r:embed="rId6"/>
          <a:stretch/>
        </p:blipFill>
        <p:spPr>
          <a:xfrm>
            <a:off x="6608204" y="1772535"/>
            <a:ext cx="5377680" cy="4542120"/>
          </a:xfrm>
          <a:prstGeom prst="rect">
            <a:avLst/>
          </a:prstGeom>
          <a:ln>
            <a:noFill/>
          </a:ln>
        </p:spPr>
      </p:pic>
      <p:pic>
        <p:nvPicPr>
          <p:cNvPr id="183" name="Picture 21"/>
          <p:cNvPicPr/>
          <p:nvPr/>
        </p:nvPicPr>
        <p:blipFill>
          <a:blip r:embed="rId7"/>
          <a:stretch/>
        </p:blipFill>
        <p:spPr>
          <a:xfrm>
            <a:off x="6608204" y="1772535"/>
            <a:ext cx="5377680" cy="4542120"/>
          </a:xfrm>
          <a:prstGeom prst="rect">
            <a:avLst/>
          </a:prstGeom>
          <a:ln>
            <a:noFill/>
          </a:ln>
        </p:spPr>
      </p:pic>
      <p:pic>
        <p:nvPicPr>
          <p:cNvPr id="184" name="Picture 22"/>
          <p:cNvPicPr/>
          <p:nvPr/>
        </p:nvPicPr>
        <p:blipFill>
          <a:blip r:embed="rId8"/>
          <a:stretch/>
        </p:blipFill>
        <p:spPr>
          <a:xfrm>
            <a:off x="6608204" y="1772535"/>
            <a:ext cx="5377680" cy="4542120"/>
          </a:xfrm>
          <a:prstGeom prst="rect">
            <a:avLst/>
          </a:prstGeom>
          <a:ln>
            <a:noFill/>
          </a:ln>
        </p:spPr>
      </p:pic>
      <p:pic>
        <p:nvPicPr>
          <p:cNvPr id="185" name="Picture 24"/>
          <p:cNvPicPr/>
          <p:nvPr/>
        </p:nvPicPr>
        <p:blipFill>
          <a:blip r:embed="rId9"/>
          <a:stretch/>
        </p:blipFill>
        <p:spPr>
          <a:xfrm>
            <a:off x="6608204" y="1772535"/>
            <a:ext cx="5377680" cy="4542120"/>
          </a:xfrm>
          <a:prstGeom prst="rect">
            <a:avLst/>
          </a:prstGeom>
          <a:ln>
            <a:noFill/>
          </a:ln>
        </p:spPr>
      </p:pic>
      <p:pic>
        <p:nvPicPr>
          <p:cNvPr id="186" name="Picture 25"/>
          <p:cNvPicPr/>
          <p:nvPr/>
        </p:nvPicPr>
        <p:blipFill>
          <a:blip r:embed="rId10"/>
          <a:stretch/>
        </p:blipFill>
        <p:spPr>
          <a:xfrm>
            <a:off x="6608204" y="1772535"/>
            <a:ext cx="5377680" cy="4542120"/>
          </a:xfrm>
          <a:prstGeom prst="rect">
            <a:avLst/>
          </a:prstGeom>
          <a:ln>
            <a:noFill/>
          </a:ln>
        </p:spPr>
      </p:pic>
      <p:pic>
        <p:nvPicPr>
          <p:cNvPr id="187" name="Picture 28"/>
          <p:cNvPicPr/>
          <p:nvPr/>
        </p:nvPicPr>
        <p:blipFill>
          <a:blip r:embed="rId11"/>
          <a:stretch/>
        </p:blipFill>
        <p:spPr>
          <a:xfrm>
            <a:off x="6608204" y="1772535"/>
            <a:ext cx="5377680" cy="4542120"/>
          </a:xfrm>
          <a:prstGeom prst="rect">
            <a:avLst/>
          </a:prstGeom>
          <a:ln>
            <a:noFill/>
          </a:ln>
        </p:spPr>
      </p:pic>
      <p:pic>
        <p:nvPicPr>
          <p:cNvPr id="188" name="Picture 29"/>
          <p:cNvPicPr/>
          <p:nvPr/>
        </p:nvPicPr>
        <p:blipFill>
          <a:blip r:embed="rId2"/>
          <a:stretch/>
        </p:blipFill>
        <p:spPr>
          <a:xfrm>
            <a:off x="6608204" y="1772535"/>
            <a:ext cx="5377680" cy="454212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CustomShape 1"/>
          <p:cNvSpPr/>
          <p:nvPr/>
        </p:nvSpPr>
        <p:spPr>
          <a:xfrm>
            <a:off x="1981560" y="-1440"/>
            <a:ext cx="8228160" cy="11440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>
                <a:solidFill>
                  <a:srgbClr val="000000"/>
                </a:solidFill>
                <a:latin typeface="Calibri"/>
                <a:ea typeface="DejaVu Sans"/>
              </a:rPr>
              <a:t>ggplot2 syntax</a:t>
            </a:r>
            <a:endParaRPr lang="en-GB" sz="4400" spc="-1">
              <a:latin typeface="Arial"/>
            </a:endParaRPr>
          </a:p>
        </p:txBody>
      </p:sp>
      <p:sp>
        <p:nvSpPr>
          <p:cNvPr id="190" name="CustomShape 2"/>
          <p:cNvSpPr/>
          <p:nvPr/>
        </p:nvSpPr>
        <p:spPr>
          <a:xfrm>
            <a:off x="2013240" y="912006"/>
            <a:ext cx="8411040" cy="281556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>
            <a:normAutofit/>
          </a:bodyPr>
          <a:lstStyle/>
          <a:p>
            <a:pPr>
              <a:spcBef>
                <a:spcPts val="357"/>
              </a:spcBef>
              <a:tabLst>
                <a:tab pos="0" algn="l"/>
              </a:tabLst>
            </a:pPr>
            <a:r>
              <a:rPr lang="en-GB" sz="1779" spc="-1">
                <a:solidFill>
                  <a:srgbClr val="7030A0"/>
                </a:solidFill>
                <a:latin typeface="Courier New"/>
                <a:ea typeface="DejaVu Sans"/>
              </a:rPr>
              <a:t>ggplot</a:t>
            </a:r>
            <a:r>
              <a:rPr lang="en-GB" sz="1779" spc="-1">
                <a:solidFill>
                  <a:srgbClr val="000000"/>
                </a:solidFill>
                <a:latin typeface="Courier New"/>
                <a:ea typeface="DejaVu Sans"/>
              </a:rPr>
              <a:t>(data, </a:t>
            </a:r>
            <a:r>
              <a:rPr lang="en-GB" sz="1779" spc="-1">
                <a:solidFill>
                  <a:srgbClr val="000000"/>
                </a:solidFill>
                <a:highlight>
                  <a:srgbClr val="00FFFF"/>
                </a:highlight>
                <a:latin typeface="Courier New"/>
                <a:ea typeface="DejaVu Sans"/>
              </a:rPr>
              <a:t>mapping) +</a:t>
            </a:r>
            <a:endParaRPr lang="en-GB" sz="1779" spc="-1">
              <a:latin typeface="Arial"/>
            </a:endParaRPr>
          </a:p>
          <a:p>
            <a:pPr>
              <a:spcBef>
                <a:spcPts val="357"/>
              </a:spcBef>
              <a:tabLst>
                <a:tab pos="0" algn="l"/>
              </a:tabLst>
            </a:pPr>
            <a:r>
              <a:rPr lang="en-GB" sz="1779" spc="-1">
                <a:solidFill>
                  <a:srgbClr val="000000"/>
                </a:solidFill>
                <a:highlight>
                  <a:srgbClr val="00FFFF"/>
                </a:highlight>
                <a:latin typeface="Courier New"/>
                <a:ea typeface="DejaVu Sans"/>
              </a:rPr>
              <a:t>	</a:t>
            </a:r>
            <a:r>
              <a:rPr lang="en-GB" sz="1779" spc="-1">
                <a:solidFill>
                  <a:srgbClr val="00B0F0"/>
                </a:solidFill>
                <a:highlight>
                  <a:srgbClr val="00FFFF"/>
                </a:highlight>
                <a:latin typeface="Courier New"/>
                <a:ea typeface="DejaVu Sans"/>
              </a:rPr>
              <a:t>geom</a:t>
            </a:r>
            <a:r>
              <a:rPr lang="en-GB" sz="1779" spc="-1">
                <a:solidFill>
                  <a:srgbClr val="000000"/>
                </a:solidFill>
                <a:highlight>
                  <a:srgbClr val="00FFFF"/>
                </a:highlight>
                <a:latin typeface="Courier New"/>
                <a:ea typeface="DejaVu Sans"/>
              </a:rPr>
              <a:t>_point(mapping, stat, position, colour, fill, shape, size, alpha) +</a:t>
            </a:r>
            <a:endParaRPr lang="en-GB" sz="1779" spc="-1">
              <a:latin typeface="Arial"/>
            </a:endParaRPr>
          </a:p>
          <a:p>
            <a:pPr>
              <a:spcBef>
                <a:spcPts val="357"/>
              </a:spcBef>
              <a:tabLst>
                <a:tab pos="0" algn="l"/>
              </a:tabLst>
            </a:pPr>
            <a:r>
              <a:rPr lang="en-GB" sz="1779" spc="-1">
                <a:solidFill>
                  <a:srgbClr val="000000"/>
                </a:solidFill>
                <a:highlight>
                  <a:srgbClr val="00FFFF"/>
                </a:highlight>
                <a:latin typeface="Courier New"/>
                <a:ea typeface="DejaVu Sans"/>
              </a:rPr>
              <a:t>	</a:t>
            </a:r>
            <a:r>
              <a:rPr lang="en-GB" sz="1779" spc="-1">
                <a:solidFill>
                  <a:srgbClr val="00B050"/>
                </a:solidFill>
                <a:highlight>
                  <a:srgbClr val="00FFFF"/>
                </a:highlight>
                <a:latin typeface="Courier New"/>
                <a:ea typeface="DejaVu Sans"/>
              </a:rPr>
              <a:t>coord</a:t>
            </a:r>
            <a:r>
              <a:rPr lang="en-GB" sz="1779" spc="-1">
                <a:solidFill>
                  <a:srgbClr val="000000"/>
                </a:solidFill>
                <a:highlight>
                  <a:srgbClr val="00FFFF"/>
                </a:highlight>
                <a:latin typeface="Courier New"/>
                <a:ea typeface="DejaVu Sans"/>
              </a:rPr>
              <a:t>_cartesian() +</a:t>
            </a:r>
            <a:endParaRPr lang="en-GB" sz="1779" spc="-1">
              <a:latin typeface="Arial"/>
            </a:endParaRPr>
          </a:p>
          <a:p>
            <a:pPr>
              <a:spcBef>
                <a:spcPts val="357"/>
              </a:spcBef>
              <a:tabLst>
                <a:tab pos="0" algn="l"/>
              </a:tabLst>
            </a:pPr>
            <a:r>
              <a:rPr lang="en-GB" sz="1779" spc="-1">
                <a:solidFill>
                  <a:srgbClr val="000000"/>
                </a:solidFill>
                <a:highlight>
                  <a:srgbClr val="00FFFF"/>
                </a:highlight>
                <a:latin typeface="Courier New"/>
                <a:ea typeface="DejaVu Sans"/>
              </a:rPr>
              <a:t>	</a:t>
            </a:r>
            <a:r>
              <a:rPr lang="en-GB" sz="1779" spc="-1">
                <a:solidFill>
                  <a:srgbClr val="E46C0A"/>
                </a:solidFill>
                <a:highlight>
                  <a:srgbClr val="00FFFF"/>
                </a:highlight>
                <a:latin typeface="Courier New"/>
                <a:ea typeface="DejaVu Sans"/>
              </a:rPr>
              <a:t>scale</a:t>
            </a:r>
            <a:r>
              <a:rPr lang="en-GB" sz="1779" spc="-1">
                <a:solidFill>
                  <a:srgbClr val="000000"/>
                </a:solidFill>
                <a:highlight>
                  <a:srgbClr val="00FFFF"/>
                </a:highlight>
                <a:latin typeface="Courier New"/>
                <a:ea typeface="DejaVu Sans"/>
              </a:rPr>
              <a:t>_colour_discrete() +</a:t>
            </a:r>
            <a:endParaRPr lang="en-GB" sz="1779" spc="-1">
              <a:latin typeface="Arial"/>
            </a:endParaRPr>
          </a:p>
          <a:p>
            <a:pPr>
              <a:spcBef>
                <a:spcPts val="357"/>
              </a:spcBef>
              <a:tabLst>
                <a:tab pos="0" algn="l"/>
              </a:tabLst>
            </a:pPr>
            <a:r>
              <a:rPr lang="en-GB" sz="1779" spc="-1">
                <a:solidFill>
                  <a:srgbClr val="000000"/>
                </a:solidFill>
                <a:highlight>
                  <a:srgbClr val="00FFFF"/>
                </a:highlight>
                <a:latin typeface="Courier New"/>
                <a:ea typeface="DejaVu Sans"/>
              </a:rPr>
              <a:t>	</a:t>
            </a:r>
            <a:r>
              <a:rPr lang="en-GB" sz="1779" spc="-1">
                <a:solidFill>
                  <a:srgbClr val="558ED5"/>
                </a:solidFill>
                <a:highlight>
                  <a:srgbClr val="00FFFF"/>
                </a:highlight>
                <a:latin typeface="Courier New"/>
                <a:ea typeface="DejaVu Sans"/>
              </a:rPr>
              <a:t>facet</a:t>
            </a:r>
            <a:r>
              <a:rPr lang="en-GB" sz="1779" spc="-1">
                <a:solidFill>
                  <a:srgbClr val="000000"/>
                </a:solidFill>
                <a:highlight>
                  <a:srgbClr val="00FFFF"/>
                </a:highlight>
                <a:latin typeface="Courier New"/>
                <a:ea typeface="DejaVu Sans"/>
              </a:rPr>
              <a:t>_wrap() +</a:t>
            </a:r>
            <a:endParaRPr lang="en-GB" sz="1779" spc="-1">
              <a:latin typeface="Arial"/>
            </a:endParaRPr>
          </a:p>
          <a:p>
            <a:pPr>
              <a:spcBef>
                <a:spcPts val="357"/>
              </a:spcBef>
              <a:tabLst>
                <a:tab pos="0" algn="l"/>
              </a:tabLst>
            </a:pPr>
            <a:r>
              <a:rPr lang="en-GB" sz="1779" spc="-1">
                <a:solidFill>
                  <a:srgbClr val="000000"/>
                </a:solidFill>
                <a:highlight>
                  <a:srgbClr val="00FFFF"/>
                </a:highlight>
                <a:latin typeface="Courier New"/>
                <a:ea typeface="DejaVu Sans"/>
              </a:rPr>
              <a:t>	</a:t>
            </a:r>
            <a:r>
              <a:rPr lang="en-GB" sz="1779" spc="-1">
                <a:solidFill>
                  <a:srgbClr val="FFC000"/>
                </a:solidFill>
                <a:highlight>
                  <a:srgbClr val="00FFFF"/>
                </a:highlight>
                <a:latin typeface="Courier New"/>
                <a:ea typeface="DejaVu Sans"/>
              </a:rPr>
              <a:t>theme</a:t>
            </a:r>
            <a:r>
              <a:rPr lang="en-GB" sz="1779" spc="-1">
                <a:solidFill>
                  <a:srgbClr val="000000"/>
                </a:solidFill>
                <a:highlight>
                  <a:srgbClr val="00FFFF"/>
                </a:highlight>
                <a:latin typeface="Courier New"/>
                <a:ea typeface="DejaVu Sans"/>
              </a:rPr>
              <a:t>_bw() +</a:t>
            </a:r>
            <a:endParaRPr lang="en-GB" sz="1779" spc="-1">
              <a:latin typeface="Arial"/>
            </a:endParaRPr>
          </a:p>
          <a:p>
            <a:pPr>
              <a:spcBef>
                <a:spcPts val="357"/>
              </a:spcBef>
              <a:tabLst>
                <a:tab pos="0" algn="l"/>
              </a:tabLst>
            </a:pPr>
            <a:r>
              <a:rPr lang="en-GB" sz="1779" spc="-1">
                <a:solidFill>
                  <a:srgbClr val="000000"/>
                </a:solidFill>
                <a:highlight>
                  <a:srgbClr val="00FFFF"/>
                </a:highlight>
                <a:latin typeface="Courier New"/>
                <a:ea typeface="DejaVu Sans"/>
              </a:rPr>
              <a:t>	ggtitle() +</a:t>
            </a:r>
            <a:endParaRPr lang="en-GB" sz="1779" spc="-1">
              <a:latin typeface="Arial"/>
            </a:endParaRPr>
          </a:p>
          <a:p>
            <a:pPr>
              <a:spcBef>
                <a:spcPts val="357"/>
              </a:spcBef>
              <a:tabLst>
                <a:tab pos="0" algn="l"/>
              </a:tabLst>
            </a:pPr>
            <a:r>
              <a:rPr lang="en-GB" sz="1779" spc="-1">
                <a:solidFill>
                  <a:srgbClr val="000000"/>
                </a:solidFill>
                <a:highlight>
                  <a:srgbClr val="00FFFF"/>
                </a:highlight>
                <a:latin typeface="Courier New"/>
                <a:ea typeface="DejaVu Sans"/>
              </a:rPr>
              <a:t>	labs()</a:t>
            </a:r>
            <a:endParaRPr lang="en-GB" sz="1779" spc="-1">
              <a:latin typeface="Arial"/>
            </a:endParaRPr>
          </a:p>
        </p:txBody>
      </p:sp>
      <p:sp>
        <p:nvSpPr>
          <p:cNvPr id="191" name="CustomShape 3"/>
          <p:cNvSpPr/>
          <p:nvPr/>
        </p:nvSpPr>
        <p:spPr>
          <a:xfrm>
            <a:off x="2013240" y="4022046"/>
            <a:ext cx="8411040" cy="49644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>
              <a:spcBef>
                <a:spcPts val="357"/>
              </a:spcBef>
              <a:tabLst>
                <a:tab pos="0" algn="l"/>
              </a:tabLst>
            </a:pPr>
            <a:r>
              <a:rPr lang="en-GB" sz="1779" spc="-1">
                <a:solidFill>
                  <a:srgbClr val="000000"/>
                </a:solidFill>
                <a:highlight>
                  <a:srgbClr val="00FFFF"/>
                </a:highlight>
                <a:latin typeface="Courier New"/>
                <a:ea typeface="DejaVu Sans"/>
              </a:rPr>
              <a:t>mapping = aes(x, y, colour, fill, shape, size, alpha)</a:t>
            </a:r>
            <a:endParaRPr lang="en-GB" sz="1779" spc="-1">
              <a:latin typeface="Arial"/>
            </a:endParaRPr>
          </a:p>
        </p:txBody>
      </p:sp>
      <p:sp>
        <p:nvSpPr>
          <p:cNvPr id="192" name="CustomShape 4"/>
          <p:cNvSpPr/>
          <p:nvPr/>
        </p:nvSpPr>
        <p:spPr>
          <a:xfrm>
            <a:off x="2013240" y="4820166"/>
            <a:ext cx="8411040" cy="1461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pc="-1">
                <a:solidFill>
                  <a:srgbClr val="000000"/>
                </a:solidFill>
                <a:latin typeface="Calibri"/>
                <a:ea typeface="DejaVu Sans"/>
              </a:rPr>
              <a:t>Note: Colour, shape, alpha, etc. can be passed </a:t>
            </a:r>
            <a:endParaRPr lang="en-GB" spc="-1">
              <a:latin typeface="Arial"/>
            </a:endParaRPr>
          </a:p>
          <a:p>
            <a:pPr marL="343080" indent="-342360">
              <a:buClr>
                <a:srgbClr val="000000"/>
              </a:buClr>
              <a:buFont typeface="StarSymbol"/>
              <a:buAutoNum type="arabicParenR"/>
            </a:pPr>
            <a:r>
              <a:rPr lang="en-GB" spc="-1">
                <a:solidFill>
                  <a:srgbClr val="000000"/>
                </a:solidFill>
                <a:latin typeface="Calibri"/>
                <a:ea typeface="DejaVu Sans"/>
              </a:rPr>
              <a:t>to the </a:t>
            </a:r>
            <a:r>
              <a:rPr lang="en-GB" spc="-1">
                <a:solidFill>
                  <a:srgbClr val="000000"/>
                </a:solidFill>
                <a:highlight>
                  <a:srgbClr val="00FFFF"/>
                </a:highlight>
                <a:latin typeface="Calibri"/>
                <a:ea typeface="DejaVu Sans"/>
              </a:rPr>
              <a:t>mapping argument - changes attributes based on some variable in the dataset itself (e.g. colour = location, or shape = hdi_class)</a:t>
            </a:r>
            <a:endParaRPr lang="en-GB" spc="-1">
              <a:latin typeface="Arial"/>
            </a:endParaRPr>
          </a:p>
          <a:p>
            <a:pPr marL="343080" indent="-342360">
              <a:buClr>
                <a:srgbClr val="000000"/>
              </a:buClr>
              <a:buFont typeface="StarSymbol"/>
              <a:buAutoNum type="arabicParenR"/>
            </a:pPr>
            <a:r>
              <a:rPr lang="en-GB" spc="-1">
                <a:solidFill>
                  <a:srgbClr val="000000"/>
                </a:solidFill>
                <a:highlight>
                  <a:srgbClr val="00FFFF"/>
                </a:highlight>
                <a:latin typeface="Calibri"/>
                <a:ea typeface="DejaVu Sans"/>
              </a:rPr>
              <a:t>directly as specific arguments in the geom function - changes the attributes to fixed values that are provided separately from the data (e.g. colour = “red” or size = 10)</a:t>
            </a:r>
            <a:endParaRPr lang="en-GB" spc="-1">
              <a:latin typeface="Arial"/>
            </a:endParaRPr>
          </a:p>
        </p:txBody>
      </p:sp>
      <p:sp>
        <p:nvSpPr>
          <p:cNvPr id="193" name="CustomShape 5"/>
          <p:cNvSpPr/>
          <p:nvPr/>
        </p:nvSpPr>
        <p:spPr>
          <a:xfrm>
            <a:off x="8817960" y="282726"/>
            <a:ext cx="1819080" cy="91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pc="-1">
                <a:solidFill>
                  <a:srgbClr val="000000"/>
                </a:solidFill>
                <a:latin typeface="Calibri"/>
                <a:ea typeface="DejaVu Sans"/>
              </a:rPr>
              <a:t>Global mapping – applies to the entire plot</a:t>
            </a:r>
            <a:endParaRPr lang="en-GB" spc="-1">
              <a:latin typeface="Arial"/>
            </a:endParaRPr>
          </a:p>
        </p:txBody>
      </p:sp>
      <p:sp>
        <p:nvSpPr>
          <p:cNvPr id="194" name="CustomShape 6"/>
          <p:cNvSpPr/>
          <p:nvPr/>
        </p:nvSpPr>
        <p:spPr>
          <a:xfrm>
            <a:off x="8817960" y="1711206"/>
            <a:ext cx="1574640" cy="364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pc="-1">
                <a:solidFill>
                  <a:srgbClr val="000000"/>
                </a:solidFill>
                <a:latin typeface="Calibri"/>
                <a:ea typeface="DejaVu Sans"/>
              </a:rPr>
              <a:t>Geom-specific</a:t>
            </a:r>
            <a:endParaRPr lang="en-GB" spc="-1">
              <a:latin typeface="Arial"/>
            </a:endParaRPr>
          </a:p>
        </p:txBody>
      </p:sp>
      <p:sp>
        <p:nvSpPr>
          <p:cNvPr id="195" name="CustomShape 7"/>
          <p:cNvSpPr/>
          <p:nvPr/>
        </p:nvSpPr>
        <p:spPr>
          <a:xfrm>
            <a:off x="4431720" y="1356246"/>
            <a:ext cx="4300920" cy="503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round/>
            <a:tailEnd type="triangle" w="med" len="med"/>
          </a:ln>
          <a:effectLst>
            <a:outerShdw blurRad="40000" dist="20160" dir="5400000" rotWithShape="0">
              <a:srgbClr val="000000">
                <a:alpha val="38000"/>
              </a:srgbClr>
            </a:outerShdw>
          </a:effectLst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96" name="CustomShape 8"/>
          <p:cNvSpPr/>
          <p:nvPr/>
        </p:nvSpPr>
        <p:spPr>
          <a:xfrm>
            <a:off x="3447120" y="1210446"/>
            <a:ext cx="984600" cy="30024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97" name="CustomShape 9"/>
          <p:cNvSpPr/>
          <p:nvPr/>
        </p:nvSpPr>
        <p:spPr>
          <a:xfrm flipV="1">
            <a:off x="4710400" y="742806"/>
            <a:ext cx="3985200" cy="31752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round/>
            <a:tailEnd type="triangle" w="med" len="med"/>
          </a:ln>
          <a:effectLst>
            <a:outerShdw blurRad="40000" dist="20160" dir="5400000" rotWithShape="0">
              <a:srgbClr val="000000">
                <a:alpha val="38000"/>
              </a:srgbClr>
            </a:outerShdw>
          </a:effectLst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98" name="CustomShape 10"/>
          <p:cNvSpPr/>
          <p:nvPr/>
        </p:nvSpPr>
        <p:spPr>
          <a:xfrm>
            <a:off x="3738040" y="912006"/>
            <a:ext cx="984600" cy="29340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99" name="CustomShape 11"/>
          <p:cNvSpPr/>
          <p:nvPr/>
        </p:nvSpPr>
        <p:spPr>
          <a:xfrm>
            <a:off x="1981560" y="3652686"/>
            <a:ext cx="1819080" cy="3643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pc="-1">
                <a:solidFill>
                  <a:srgbClr val="000000"/>
                </a:solidFill>
                <a:latin typeface="Calibri"/>
                <a:ea typeface="DejaVu Sans"/>
              </a:rPr>
              <a:t>Where,</a:t>
            </a:r>
            <a:endParaRPr lang="en-GB" spc="-1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46E16-0860-B5C9-9C94-074DF328D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DEFEBC8-8018-3D67-CF93-D4D2331BBD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6746" y="475045"/>
            <a:ext cx="9118507" cy="6382955"/>
          </a:xfrm>
          <a:prstGeom prst="rect">
            <a:avLst/>
          </a:prstGeom>
        </p:spPr>
      </p:pic>
      <p:sp>
        <p:nvSpPr>
          <p:cNvPr id="189" name="CustomShape 1">
            <a:extLst>
              <a:ext uri="{FF2B5EF4-FFF2-40B4-BE49-F238E27FC236}">
                <a16:creationId xmlns:a16="http://schemas.microsoft.com/office/drawing/2014/main" id="{B7B879EE-7528-1548-AADA-5AC1CCC923E7}"/>
              </a:ext>
            </a:extLst>
          </p:cNvPr>
          <p:cNvSpPr/>
          <p:nvPr/>
        </p:nvSpPr>
        <p:spPr>
          <a:xfrm>
            <a:off x="1981560" y="-1440"/>
            <a:ext cx="8228160" cy="11440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 dirty="0">
                <a:solidFill>
                  <a:srgbClr val="000000"/>
                </a:solidFill>
                <a:latin typeface="Calibri"/>
                <a:ea typeface="DejaVu Sans"/>
              </a:rPr>
              <a:t>Colours in ggplot2</a:t>
            </a:r>
            <a:endParaRPr lang="en-GB" sz="4400" spc="-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35554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CA725-D9BC-3419-F355-169E8D131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CustomShape 1">
            <a:extLst>
              <a:ext uri="{FF2B5EF4-FFF2-40B4-BE49-F238E27FC236}">
                <a16:creationId xmlns:a16="http://schemas.microsoft.com/office/drawing/2014/main" id="{E65D9A70-1292-CAF4-2C4A-3ECB2F65B0BF}"/>
              </a:ext>
            </a:extLst>
          </p:cNvPr>
          <p:cNvSpPr/>
          <p:nvPr/>
        </p:nvSpPr>
        <p:spPr>
          <a:xfrm>
            <a:off x="1524000" y="0"/>
            <a:ext cx="8644569" cy="6136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79" name="CustomShape 2">
            <a:extLst>
              <a:ext uri="{FF2B5EF4-FFF2-40B4-BE49-F238E27FC236}">
                <a16:creationId xmlns:a16="http://schemas.microsoft.com/office/drawing/2014/main" id="{F708F860-8142-5833-456C-7807B9851C91}"/>
              </a:ext>
            </a:extLst>
          </p:cNvPr>
          <p:cNvSpPr/>
          <p:nvPr/>
        </p:nvSpPr>
        <p:spPr>
          <a:xfrm>
            <a:off x="2436960" y="2222640"/>
            <a:ext cx="3518640" cy="2411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>
              <a:lnSpc>
                <a:spcPct val="9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5400" b="1" spc="-1" dirty="0">
                <a:solidFill>
                  <a:srgbClr val="000000"/>
                </a:solidFill>
                <a:ea typeface="DejaVu Sans"/>
              </a:rPr>
              <a:t>Let’s explore practically</a:t>
            </a:r>
            <a:endParaRPr lang="en-GB" sz="5400" spc="-1" dirty="0"/>
          </a:p>
          <a:p>
            <a:pPr>
              <a:lnSpc>
                <a:spcPct val="90000"/>
              </a:lnSpc>
              <a:spcAft>
                <a:spcPts val="601"/>
              </a:spcAft>
              <a:tabLst>
                <a:tab pos="0" algn="l"/>
              </a:tabLst>
            </a:pPr>
            <a:endParaRPr lang="en-GB" sz="5400" spc="-1" dirty="0"/>
          </a:p>
        </p:txBody>
      </p:sp>
      <p:sp>
        <p:nvSpPr>
          <p:cNvPr id="380" name="CustomShape 3">
            <a:extLst>
              <a:ext uri="{FF2B5EF4-FFF2-40B4-BE49-F238E27FC236}">
                <a16:creationId xmlns:a16="http://schemas.microsoft.com/office/drawing/2014/main" id="{E53AFD1B-6EDC-AC46-039A-C55B9F6CE8AE}"/>
              </a:ext>
            </a:extLst>
          </p:cNvPr>
          <p:cNvSpPr/>
          <p:nvPr/>
        </p:nvSpPr>
        <p:spPr>
          <a:xfrm>
            <a:off x="5656800" y="851400"/>
            <a:ext cx="4637520" cy="5153760"/>
          </a:xfrm>
          <a:custGeom>
            <a:avLst/>
            <a:gdLst/>
            <a:ahLst/>
            <a:cxnLst/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1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4"/>
                  <a:pt x="2445216" y="109244"/>
                </a:cubicBezTo>
                <a:cubicBezTo>
                  <a:pt x="1625714" y="109244"/>
                  <a:pt x="1625714" y="109244"/>
                  <a:pt x="1625714" y="109244"/>
                </a:cubicBezTo>
                <a:cubicBezTo>
                  <a:pt x="1572615" y="109244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8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1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381" name="Graphic 5" descr="Cmd Terminal outline">
            <a:extLst>
              <a:ext uri="{FF2B5EF4-FFF2-40B4-BE49-F238E27FC236}">
                <a16:creationId xmlns:a16="http://schemas.microsoft.com/office/drawing/2014/main" id="{2022AB90-B8B0-FEC5-78E9-BD286748AB7E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008960" y="2341080"/>
            <a:ext cx="2745360" cy="274536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96524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CustomShape 2"/>
          <p:cNvSpPr/>
          <p:nvPr/>
        </p:nvSpPr>
        <p:spPr>
          <a:xfrm>
            <a:off x="1984440" y="1712880"/>
            <a:ext cx="2742480" cy="395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z="2000" b="1" spc="-1">
                <a:solidFill>
                  <a:srgbClr val="000000"/>
                </a:solidFill>
                <a:latin typeface="Calibri"/>
                <a:ea typeface="DejaVu Sans"/>
              </a:rPr>
              <a:t>Box-plots</a:t>
            </a:r>
            <a:endParaRPr lang="en-GB" sz="2000" spc="-1">
              <a:latin typeface="Arial"/>
            </a:endParaRPr>
          </a:p>
        </p:txBody>
      </p:sp>
      <p:sp>
        <p:nvSpPr>
          <p:cNvPr id="208" name="CustomShape 3"/>
          <p:cNvSpPr/>
          <p:nvPr/>
        </p:nvSpPr>
        <p:spPr>
          <a:xfrm>
            <a:off x="1984440" y="2080800"/>
            <a:ext cx="274248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pc="-1">
                <a:solidFill>
                  <a:srgbClr val="000000"/>
                </a:solidFill>
                <a:latin typeface="Courier New"/>
                <a:ea typeface="Calibri"/>
              </a:rPr>
              <a:t>geom_boxplot()</a:t>
            </a:r>
            <a:endParaRPr lang="en-GB" spc="-1">
              <a:latin typeface="Arial"/>
            </a:endParaRPr>
          </a:p>
        </p:txBody>
      </p:sp>
      <p:pic>
        <p:nvPicPr>
          <p:cNvPr id="209" name="Picture 6" descr="Chart, box and whisker chart&#10;&#10;Description automatically generated"/>
          <p:cNvPicPr/>
          <p:nvPr/>
        </p:nvPicPr>
        <p:blipFill>
          <a:blip r:embed="rId2"/>
          <a:stretch/>
        </p:blipFill>
        <p:spPr>
          <a:xfrm>
            <a:off x="2641800" y="4245766"/>
            <a:ext cx="2742480" cy="2079360"/>
          </a:xfrm>
          <a:prstGeom prst="rect">
            <a:avLst/>
          </a:prstGeom>
          <a:ln>
            <a:noFill/>
          </a:ln>
        </p:spPr>
      </p:pic>
      <p:pic>
        <p:nvPicPr>
          <p:cNvPr id="210" name="Picture 7" descr="Chart, box and whisker chart&#10;&#10;Description automatically generated"/>
          <p:cNvPicPr/>
          <p:nvPr/>
        </p:nvPicPr>
        <p:blipFill>
          <a:blip r:embed="rId3"/>
          <a:stretch/>
        </p:blipFill>
        <p:spPr>
          <a:xfrm>
            <a:off x="6164760" y="4328280"/>
            <a:ext cx="2742480" cy="1958760"/>
          </a:xfrm>
          <a:prstGeom prst="rect">
            <a:avLst/>
          </a:prstGeom>
          <a:ln>
            <a:noFill/>
          </a:ln>
        </p:spPr>
      </p:pic>
      <p:pic>
        <p:nvPicPr>
          <p:cNvPr id="211" name="Picture 9" descr="Diagram&#10;&#10;Description automatically generated"/>
          <p:cNvPicPr/>
          <p:nvPr/>
        </p:nvPicPr>
        <p:blipFill>
          <a:blip r:embed="rId4"/>
          <a:stretch/>
        </p:blipFill>
        <p:spPr>
          <a:xfrm>
            <a:off x="3730080" y="1328400"/>
            <a:ext cx="6484680" cy="294804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3908ECED-FFAB-B0CC-21EA-7056BEEB9470}"/>
              </a:ext>
            </a:extLst>
          </p:cNvPr>
          <p:cNvSpPr/>
          <p:nvPr/>
        </p:nvSpPr>
        <p:spPr>
          <a:xfrm>
            <a:off x="1981200" y="274680"/>
            <a:ext cx="8228880" cy="1142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 dirty="0">
                <a:solidFill>
                  <a:srgbClr val="000000"/>
                </a:solidFill>
                <a:latin typeface="Calibri"/>
                <a:ea typeface="DejaVu Sans"/>
              </a:rPr>
              <a:t>Plotting grouped data</a:t>
            </a:r>
            <a:endParaRPr lang="en-GB" sz="4400" b="1" spc="-1" dirty="0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CustomShape 2"/>
          <p:cNvSpPr/>
          <p:nvPr/>
        </p:nvSpPr>
        <p:spPr>
          <a:xfrm>
            <a:off x="1984440" y="1344960"/>
            <a:ext cx="2742480" cy="395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z="2000" b="1" spc="-1">
                <a:solidFill>
                  <a:srgbClr val="000000"/>
                </a:solidFill>
                <a:latin typeface="Calibri"/>
                <a:ea typeface="DejaVu Sans"/>
              </a:rPr>
              <a:t>Bar plots</a:t>
            </a:r>
            <a:endParaRPr lang="en-GB" sz="2000" spc="-1">
              <a:latin typeface="Arial"/>
            </a:endParaRPr>
          </a:p>
        </p:txBody>
      </p:sp>
      <p:sp>
        <p:nvSpPr>
          <p:cNvPr id="214" name="CustomShape 3"/>
          <p:cNvSpPr/>
          <p:nvPr/>
        </p:nvSpPr>
        <p:spPr>
          <a:xfrm>
            <a:off x="1986240" y="1715040"/>
            <a:ext cx="385416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pc="-1">
                <a:solidFill>
                  <a:srgbClr val="000000"/>
                </a:solidFill>
                <a:latin typeface="Courier New"/>
                <a:ea typeface="DejaVu Sans"/>
              </a:rPr>
              <a:t>geom_bar(</a:t>
            </a:r>
            <a:r>
              <a:rPr lang="en-GB" spc="-1">
                <a:solidFill>
                  <a:srgbClr val="000000"/>
                </a:solidFill>
                <a:latin typeface="Courier New"/>
                <a:ea typeface="Calibri"/>
              </a:rPr>
              <a:t>position=...)</a:t>
            </a:r>
            <a:endParaRPr lang="en-GB" spc="-1">
              <a:latin typeface="Arial"/>
            </a:endParaRPr>
          </a:p>
        </p:txBody>
      </p:sp>
      <p:sp>
        <p:nvSpPr>
          <p:cNvPr id="215" name="CustomShape 4"/>
          <p:cNvSpPr/>
          <p:nvPr/>
        </p:nvSpPr>
        <p:spPr>
          <a:xfrm>
            <a:off x="7740480" y="5292720"/>
            <a:ext cx="263304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pc="-1">
                <a:solidFill>
                  <a:srgbClr val="000000"/>
                </a:solidFill>
                <a:latin typeface="Courier New"/>
                <a:ea typeface="Calibri"/>
              </a:rPr>
              <a:t>position="fill"</a:t>
            </a:r>
            <a:endParaRPr lang="en-GB" spc="-1">
              <a:latin typeface="Arial"/>
            </a:endParaRPr>
          </a:p>
        </p:txBody>
      </p:sp>
      <p:sp>
        <p:nvSpPr>
          <p:cNvPr id="216" name="CustomShape 5"/>
          <p:cNvSpPr/>
          <p:nvPr/>
        </p:nvSpPr>
        <p:spPr>
          <a:xfrm>
            <a:off x="4726200" y="5292720"/>
            <a:ext cx="247644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pc="-1">
                <a:solidFill>
                  <a:srgbClr val="000000"/>
                </a:solidFill>
                <a:latin typeface="Courier New"/>
                <a:ea typeface="Calibri"/>
              </a:rPr>
              <a:t>position="stack"</a:t>
            </a:r>
            <a:endParaRPr lang="en-GB" spc="-1">
              <a:latin typeface="Arial"/>
            </a:endParaRPr>
          </a:p>
        </p:txBody>
      </p:sp>
      <p:pic>
        <p:nvPicPr>
          <p:cNvPr id="217" name="Picture 8" descr="Chart, bar chart&#10;&#10;Description automatically generated"/>
          <p:cNvPicPr/>
          <p:nvPr/>
        </p:nvPicPr>
        <p:blipFill>
          <a:blip r:embed="rId2"/>
          <a:stretch/>
        </p:blipFill>
        <p:spPr>
          <a:xfrm>
            <a:off x="1827840" y="2550600"/>
            <a:ext cx="2742480" cy="2742480"/>
          </a:xfrm>
          <a:prstGeom prst="rect">
            <a:avLst/>
          </a:prstGeom>
          <a:ln>
            <a:noFill/>
          </a:ln>
        </p:spPr>
      </p:pic>
      <p:pic>
        <p:nvPicPr>
          <p:cNvPr id="218" name="Picture 9" descr="Chart, bar chart&#10;&#10;Description automatically generated"/>
          <p:cNvPicPr/>
          <p:nvPr/>
        </p:nvPicPr>
        <p:blipFill>
          <a:blip r:embed="rId3"/>
          <a:stretch/>
        </p:blipFill>
        <p:spPr>
          <a:xfrm>
            <a:off x="4724400" y="2550600"/>
            <a:ext cx="2742480" cy="2742480"/>
          </a:xfrm>
          <a:prstGeom prst="rect">
            <a:avLst/>
          </a:prstGeom>
          <a:ln>
            <a:noFill/>
          </a:ln>
        </p:spPr>
      </p:pic>
      <p:pic>
        <p:nvPicPr>
          <p:cNvPr id="219" name="Picture 10" descr="Chart, bar chart&#10;&#10;Description automatically generated"/>
          <p:cNvPicPr/>
          <p:nvPr/>
        </p:nvPicPr>
        <p:blipFill>
          <a:blip r:embed="rId4"/>
          <a:stretch/>
        </p:blipFill>
        <p:spPr>
          <a:xfrm>
            <a:off x="7628880" y="2550600"/>
            <a:ext cx="2742480" cy="2742480"/>
          </a:xfrm>
          <a:prstGeom prst="rect">
            <a:avLst/>
          </a:prstGeom>
          <a:ln>
            <a:noFill/>
          </a:ln>
        </p:spPr>
      </p:pic>
      <p:sp>
        <p:nvSpPr>
          <p:cNvPr id="220" name="CustomShape 6"/>
          <p:cNvSpPr/>
          <p:nvPr/>
        </p:nvSpPr>
        <p:spPr>
          <a:xfrm>
            <a:off x="1827840" y="5345640"/>
            <a:ext cx="274248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pc="-1">
                <a:solidFill>
                  <a:srgbClr val="000000"/>
                </a:solidFill>
                <a:latin typeface="Courier New"/>
                <a:ea typeface="DejaVu Sans"/>
              </a:rPr>
              <a:t>position="dodge"</a:t>
            </a:r>
            <a:endParaRPr lang="en-GB" spc="-1">
              <a:latin typeface="Arial"/>
            </a:endParaRPr>
          </a:p>
        </p:txBody>
      </p:sp>
      <p:sp>
        <p:nvSpPr>
          <p:cNvPr id="3" name="CustomShape 1">
            <a:extLst>
              <a:ext uri="{FF2B5EF4-FFF2-40B4-BE49-F238E27FC236}">
                <a16:creationId xmlns:a16="http://schemas.microsoft.com/office/drawing/2014/main" id="{F30F4E2F-2E25-1EFB-458D-FAAED785ECD3}"/>
              </a:ext>
            </a:extLst>
          </p:cNvPr>
          <p:cNvSpPr/>
          <p:nvPr/>
        </p:nvSpPr>
        <p:spPr>
          <a:xfrm>
            <a:off x="1981200" y="274680"/>
            <a:ext cx="8228880" cy="1142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 dirty="0">
                <a:solidFill>
                  <a:srgbClr val="000000"/>
                </a:solidFill>
                <a:latin typeface="Calibri"/>
                <a:ea typeface="DejaVu Sans"/>
              </a:rPr>
              <a:t>Plotting grouped data</a:t>
            </a:r>
            <a:endParaRPr lang="en-GB" sz="4400" b="1" spc="-1" dirty="0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CustomShape 1"/>
          <p:cNvSpPr/>
          <p:nvPr/>
        </p:nvSpPr>
        <p:spPr>
          <a:xfrm>
            <a:off x="1981200" y="274680"/>
            <a:ext cx="8228880" cy="1142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 dirty="0">
                <a:solidFill>
                  <a:srgbClr val="000000"/>
                </a:solidFill>
                <a:latin typeface="Calibri"/>
                <a:ea typeface="DejaVu Sans"/>
              </a:rPr>
              <a:t>Plotting grouped data</a:t>
            </a:r>
            <a:endParaRPr lang="en-GB" sz="4400" b="1" spc="-1" dirty="0">
              <a:latin typeface="Arial"/>
            </a:endParaRPr>
          </a:p>
        </p:txBody>
      </p:sp>
      <p:sp>
        <p:nvSpPr>
          <p:cNvPr id="222" name="CustomShape 2"/>
          <p:cNvSpPr/>
          <p:nvPr/>
        </p:nvSpPr>
        <p:spPr>
          <a:xfrm>
            <a:off x="1984440" y="1344960"/>
            <a:ext cx="2742480" cy="395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z="2000" b="1" spc="-1">
                <a:solidFill>
                  <a:srgbClr val="000000"/>
                </a:solidFill>
                <a:latin typeface="Calibri"/>
                <a:ea typeface="DejaVu Sans"/>
              </a:rPr>
              <a:t>Dot plots</a:t>
            </a:r>
            <a:endParaRPr lang="en-GB" sz="2000" spc="-1">
              <a:latin typeface="Arial"/>
            </a:endParaRPr>
          </a:p>
        </p:txBody>
      </p:sp>
      <p:sp>
        <p:nvSpPr>
          <p:cNvPr id="223" name="CustomShape 3"/>
          <p:cNvSpPr/>
          <p:nvPr/>
        </p:nvSpPr>
        <p:spPr>
          <a:xfrm>
            <a:off x="1986240" y="1715040"/>
            <a:ext cx="385416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pc="-1">
                <a:solidFill>
                  <a:srgbClr val="000000"/>
                </a:solidFill>
                <a:latin typeface="Courier New"/>
                <a:ea typeface="DejaVu Sans"/>
              </a:rPr>
              <a:t>geom_dotplot()</a:t>
            </a:r>
            <a:endParaRPr lang="en-GB" spc="-1">
              <a:latin typeface="Arial"/>
            </a:endParaRPr>
          </a:p>
        </p:txBody>
      </p:sp>
      <p:sp>
        <p:nvSpPr>
          <p:cNvPr id="224" name="CustomShape 4"/>
          <p:cNvSpPr/>
          <p:nvPr/>
        </p:nvSpPr>
        <p:spPr>
          <a:xfrm>
            <a:off x="6258900" y="5394240"/>
            <a:ext cx="5185080" cy="11876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pc="-1" dirty="0" err="1">
                <a:solidFill>
                  <a:srgbClr val="000000"/>
                </a:solidFill>
                <a:latin typeface="Courier New"/>
                <a:ea typeface="Calibri"/>
              </a:rPr>
              <a:t>ggplot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(…)+</a:t>
            </a:r>
            <a:endParaRPr lang="en-GB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pc="-1" dirty="0" err="1">
                <a:solidFill>
                  <a:srgbClr val="000000"/>
                </a:solidFill>
                <a:latin typeface="Courier New"/>
                <a:ea typeface="Calibri"/>
              </a:rPr>
              <a:t>geom_boxplot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(position = "dodge")+</a:t>
            </a:r>
            <a:endParaRPr lang="en-GB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pc="-1" dirty="0" err="1">
                <a:solidFill>
                  <a:srgbClr val="000000"/>
                </a:solidFill>
                <a:latin typeface="Courier New"/>
                <a:ea typeface="Calibri"/>
              </a:rPr>
              <a:t>geom_dotplot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(…)</a:t>
            </a:r>
            <a:endParaRPr lang="en-GB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GB" spc="-1" dirty="0">
              <a:latin typeface="Arial"/>
            </a:endParaRPr>
          </a:p>
        </p:txBody>
      </p:sp>
      <p:sp>
        <p:nvSpPr>
          <p:cNvPr id="225" name="CustomShape 5"/>
          <p:cNvSpPr/>
          <p:nvPr/>
        </p:nvSpPr>
        <p:spPr>
          <a:xfrm>
            <a:off x="1814160" y="5256360"/>
            <a:ext cx="2757960" cy="9133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pc="-1" dirty="0" err="1">
                <a:solidFill>
                  <a:srgbClr val="000000"/>
                </a:solidFill>
                <a:latin typeface="Courier New"/>
                <a:ea typeface="Calibri"/>
              </a:rPr>
              <a:t>ggplot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(…)+ </a:t>
            </a:r>
            <a:r>
              <a:rPr lang="en-US" spc="-1" dirty="0" err="1">
                <a:solidFill>
                  <a:srgbClr val="000000"/>
                </a:solidFill>
                <a:latin typeface="Courier New"/>
                <a:ea typeface="Calibri"/>
              </a:rPr>
              <a:t>geom_boxplot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(…)+ </a:t>
            </a:r>
            <a:r>
              <a:rPr lang="en-US" spc="-1" dirty="0" err="1">
                <a:solidFill>
                  <a:srgbClr val="000000"/>
                </a:solidFill>
                <a:latin typeface="Courier New"/>
                <a:ea typeface="Calibri"/>
              </a:rPr>
              <a:t>geom_dotplot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(…)</a:t>
            </a:r>
            <a:endParaRPr lang="en-GB" spc="-1" dirty="0">
              <a:latin typeface="Arial"/>
            </a:endParaRPr>
          </a:p>
        </p:txBody>
      </p:sp>
      <p:sp>
        <p:nvSpPr>
          <p:cNvPr id="226" name="CustomShape 6"/>
          <p:cNvSpPr/>
          <p:nvPr/>
        </p:nvSpPr>
        <p:spPr>
          <a:xfrm>
            <a:off x="4739880" y="3560400"/>
            <a:ext cx="2742480" cy="64487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pc="-1" dirty="0" err="1">
                <a:solidFill>
                  <a:srgbClr val="000000"/>
                </a:solidFill>
                <a:latin typeface="Courier New"/>
                <a:ea typeface="DejaVu Sans"/>
              </a:rPr>
              <a:t>ggplot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DejaVu Sans"/>
              </a:rPr>
              <a:t>(…)+ </a:t>
            </a:r>
            <a:r>
              <a:rPr lang="en-US" spc="-1" dirty="0" err="1">
                <a:solidFill>
                  <a:srgbClr val="000000"/>
                </a:solidFill>
                <a:latin typeface="Courier New"/>
                <a:ea typeface="DejaVu Sans"/>
              </a:rPr>
              <a:t>geom_dotplot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DejaVu Sans"/>
              </a:rPr>
              <a:t>(…)</a:t>
            </a:r>
          </a:p>
        </p:txBody>
      </p:sp>
      <p:pic>
        <p:nvPicPr>
          <p:cNvPr id="227" name="Picture 10" descr="Chart, scatter chart&#10;&#10;Description automatically generated"/>
          <p:cNvPicPr/>
          <p:nvPr/>
        </p:nvPicPr>
        <p:blipFill>
          <a:blip r:embed="rId2"/>
          <a:stretch/>
        </p:blipFill>
        <p:spPr>
          <a:xfrm>
            <a:off x="4833840" y="1243080"/>
            <a:ext cx="2304000" cy="2319840"/>
          </a:xfrm>
          <a:prstGeom prst="rect">
            <a:avLst/>
          </a:prstGeom>
          <a:ln>
            <a:noFill/>
          </a:ln>
        </p:spPr>
      </p:pic>
      <p:pic>
        <p:nvPicPr>
          <p:cNvPr id="228" name="Picture 12" descr="Chart, scatter chart&#10;&#10;Description automatically generated"/>
          <p:cNvPicPr/>
          <p:nvPr/>
        </p:nvPicPr>
        <p:blipFill>
          <a:blip r:embed="rId3"/>
          <a:stretch/>
        </p:blipFill>
        <p:spPr>
          <a:xfrm>
            <a:off x="1814160" y="3142440"/>
            <a:ext cx="2742480" cy="2113920"/>
          </a:xfrm>
          <a:prstGeom prst="rect">
            <a:avLst/>
          </a:prstGeom>
          <a:ln>
            <a:noFill/>
          </a:ln>
        </p:spPr>
      </p:pic>
      <p:pic>
        <p:nvPicPr>
          <p:cNvPr id="229" name="Picture 13" descr="Chart, box and whisker chart&#10;&#10;Description automatically generated"/>
          <p:cNvPicPr/>
          <p:nvPr/>
        </p:nvPicPr>
        <p:blipFill>
          <a:blip r:embed="rId4"/>
          <a:stretch/>
        </p:blipFill>
        <p:spPr>
          <a:xfrm>
            <a:off x="7482360" y="3280320"/>
            <a:ext cx="2742480" cy="211392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CustomShape 1"/>
          <p:cNvSpPr/>
          <p:nvPr/>
        </p:nvSpPr>
        <p:spPr>
          <a:xfrm>
            <a:off x="1981200" y="684000"/>
            <a:ext cx="8228160" cy="11440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>
                <a:solidFill>
                  <a:srgbClr val="000000"/>
                </a:solidFill>
                <a:latin typeface="Calibri"/>
                <a:ea typeface="DejaVu Sans"/>
              </a:rPr>
              <a:t>Understanding factors</a:t>
            </a:r>
            <a:endParaRPr lang="en-GB" sz="4400" spc="-1">
              <a:latin typeface="Arial"/>
            </a:endParaRPr>
          </a:p>
        </p:txBody>
      </p:sp>
      <p:sp>
        <p:nvSpPr>
          <p:cNvPr id="231" name="CustomShape 2"/>
          <p:cNvSpPr/>
          <p:nvPr/>
        </p:nvSpPr>
        <p:spPr>
          <a:xfrm>
            <a:off x="1981200" y="1640160"/>
            <a:ext cx="8384760" cy="3577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>
            <a:noAutofit/>
          </a:bodyPr>
          <a:lstStyle/>
          <a:p>
            <a:pPr marL="343080" indent="-342360"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  <a:ea typeface="DejaVu Sans"/>
              </a:rPr>
              <a:t>Factors are used to represent categorical data.</a:t>
            </a:r>
            <a:endParaRPr lang="en-GB" sz="2000" spc="-1" dirty="0">
              <a:latin typeface="Arial"/>
            </a:endParaRPr>
          </a:p>
          <a:p>
            <a:pPr marL="343080" indent="-342360"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  <a:ea typeface="DejaVu Sans"/>
              </a:rPr>
              <a:t>Factors don't have to be binary! You can have many categories.</a:t>
            </a:r>
            <a:endParaRPr lang="en-GB" sz="2000" spc="-1" dirty="0">
              <a:latin typeface="Arial"/>
            </a:endParaRPr>
          </a:p>
          <a:p>
            <a:pPr marL="343080" indent="-342360"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  <a:ea typeface="DejaVu Sans"/>
              </a:rPr>
              <a:t>When you import a table to R, your categorical columns are treated as characters ("Germany", "Belgium", "Germany", etc.) or numbers (1, 2): using safest option -  </a:t>
            </a:r>
            <a:r>
              <a:rPr lang="en-GB" sz="2000" spc="-1" dirty="0" err="1">
                <a:solidFill>
                  <a:srgbClr val="000000"/>
                </a:solidFill>
                <a:latin typeface="Courier New"/>
                <a:ea typeface="DejaVu Sans"/>
              </a:rPr>
              <a:t>stringsAsFactors</a:t>
            </a:r>
            <a:r>
              <a:rPr lang="en-GB" sz="2000" spc="-1" dirty="0">
                <a:solidFill>
                  <a:srgbClr val="000000"/>
                </a:solidFill>
                <a:latin typeface="Courier New"/>
                <a:ea typeface="DejaVu Sans"/>
              </a:rPr>
              <a:t> = FALSE</a:t>
            </a:r>
            <a:r>
              <a:rPr lang="en-GB" sz="2000" spc="-1" dirty="0">
                <a:solidFill>
                  <a:srgbClr val="000000"/>
                </a:solidFill>
                <a:latin typeface="Calibri"/>
                <a:ea typeface="DejaVu Sans"/>
              </a:rPr>
              <a:t> argument in </a:t>
            </a:r>
            <a:r>
              <a:rPr lang="en-GB" sz="2000" spc="-1" dirty="0">
                <a:solidFill>
                  <a:srgbClr val="000000"/>
                </a:solidFill>
                <a:latin typeface="Courier New"/>
                <a:ea typeface="DejaVu Sans"/>
              </a:rPr>
              <a:t>read...</a:t>
            </a:r>
            <a:r>
              <a:rPr lang="en-GB" sz="2000" spc="-1" dirty="0">
                <a:solidFill>
                  <a:srgbClr val="000000"/>
                </a:solidFill>
                <a:latin typeface="Calibri"/>
                <a:ea typeface="DejaVu Sans"/>
              </a:rPr>
              <a:t> functions.</a:t>
            </a:r>
            <a:endParaRPr lang="en-GB" sz="2000" spc="-1" dirty="0">
              <a:latin typeface="Arial"/>
            </a:endParaRPr>
          </a:p>
          <a:p>
            <a:pPr marL="343080" indent="-342360"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  <a:ea typeface="DejaVu Sans"/>
              </a:rPr>
              <a:t>You know where your categories are presented. Convert the relevant column into factor:</a:t>
            </a:r>
            <a:endParaRPr lang="en-GB" sz="2000" spc="-1" dirty="0">
              <a:latin typeface="Arial"/>
            </a:endParaRPr>
          </a:p>
          <a:p>
            <a:pPr marL="343080" indent="-342360"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ourier New"/>
                <a:ea typeface="DejaVu Sans"/>
              </a:rPr>
              <a:t>  df1$col1 &lt;- </a:t>
            </a:r>
            <a:r>
              <a:rPr lang="en-GB" sz="2000" spc="-1" dirty="0" err="1">
                <a:solidFill>
                  <a:srgbClr val="000000"/>
                </a:solidFill>
                <a:latin typeface="Courier New"/>
                <a:ea typeface="DejaVu Sans"/>
              </a:rPr>
              <a:t>as.factor</a:t>
            </a:r>
            <a:r>
              <a:rPr lang="en-GB" sz="2000" spc="-1" dirty="0">
                <a:solidFill>
                  <a:srgbClr val="000000"/>
                </a:solidFill>
                <a:latin typeface="Courier New"/>
                <a:ea typeface="DejaVu Sans"/>
              </a:rPr>
              <a:t>(df1$col1)</a:t>
            </a:r>
            <a:endParaRPr lang="en-GB" sz="2000" spc="-1" dirty="0">
              <a:latin typeface="Arial"/>
            </a:endParaRPr>
          </a:p>
          <a:p>
            <a:pPr marL="343080" indent="-342360"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  <a:ea typeface="DejaVu Sans"/>
              </a:rPr>
              <a:t>Factors have levels, you can check all the categories within the factor:</a:t>
            </a:r>
            <a:endParaRPr lang="en-GB" sz="2000" spc="-1" dirty="0">
              <a:latin typeface="Arial"/>
            </a:endParaRPr>
          </a:p>
          <a:p>
            <a:pPr marL="343080" indent="-342360"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ourier New"/>
                <a:ea typeface="DejaVu Sans"/>
              </a:rPr>
              <a:t>  levels(df1$col1)</a:t>
            </a:r>
            <a:endParaRPr lang="en-GB" sz="2000" spc="-1" dirty="0">
              <a:latin typeface="Arial"/>
            </a:endParaRPr>
          </a:p>
          <a:p>
            <a:pPr>
              <a:spcBef>
                <a:spcPts val="400"/>
              </a:spcBef>
            </a:pPr>
            <a:endParaRPr lang="en-GB" sz="2000" spc="-1" dirty="0">
              <a:latin typeface="Arial"/>
            </a:endParaRPr>
          </a:p>
          <a:p>
            <a:pPr marL="343080" indent="-342360">
              <a:spcBef>
                <a:spcPts val="400"/>
              </a:spcBef>
              <a:buClr>
                <a:srgbClr val="FF0000"/>
              </a:buClr>
              <a:buFont typeface="Arial"/>
              <a:buChar char="•"/>
            </a:pPr>
            <a:r>
              <a:rPr lang="en-GB" sz="2000" spc="-1" dirty="0">
                <a:solidFill>
                  <a:srgbClr val="FF0000"/>
                </a:solidFill>
                <a:latin typeface="Calibri"/>
                <a:ea typeface="Calibri"/>
              </a:rPr>
              <a:t>You need to have your categories as factors in order to analyse and to plot the data by group!</a:t>
            </a:r>
            <a:endParaRPr lang="en-GB" sz="2000" spc="-1" dirty="0">
              <a:latin typeface="Arial"/>
            </a:endParaRPr>
          </a:p>
          <a:p>
            <a:pPr>
              <a:spcBef>
                <a:spcPts val="400"/>
              </a:spcBef>
            </a:pPr>
            <a:endParaRPr lang="en-GB" sz="2000" spc="-1" dirty="0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CustomShape 1"/>
          <p:cNvSpPr/>
          <p:nvPr/>
        </p:nvSpPr>
        <p:spPr>
          <a:xfrm>
            <a:off x="1981200" y="650520"/>
            <a:ext cx="8228880" cy="1142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>
                <a:solidFill>
                  <a:srgbClr val="000000"/>
                </a:solidFill>
                <a:latin typeface="Calibri"/>
                <a:ea typeface="DejaVu Sans"/>
              </a:rPr>
              <a:t>Wide vs. Long data format</a:t>
            </a:r>
            <a:endParaRPr lang="en-GB" sz="4400" spc="-1">
              <a:latin typeface="Arial"/>
            </a:endParaRPr>
          </a:p>
        </p:txBody>
      </p:sp>
      <p:pic>
        <p:nvPicPr>
          <p:cNvPr id="233" name="Picture 4" descr="A picture containing text, crossword, photo, different&#10;&#10;Description automatically generated"/>
          <p:cNvPicPr/>
          <p:nvPr/>
        </p:nvPicPr>
        <p:blipFill>
          <a:blip r:embed="rId2"/>
          <a:stretch/>
        </p:blipFill>
        <p:spPr>
          <a:xfrm>
            <a:off x="1887240" y="2494440"/>
            <a:ext cx="8322840" cy="270504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Picture 4" descr="Table&#10;&#10;Description automatically generated"/>
          <p:cNvPicPr/>
          <p:nvPr/>
        </p:nvPicPr>
        <p:blipFill rotWithShape="1">
          <a:blip r:embed="rId2"/>
          <a:srcRect t="11950" b="12126"/>
          <a:stretch/>
        </p:blipFill>
        <p:spPr>
          <a:xfrm>
            <a:off x="1984440" y="2691893"/>
            <a:ext cx="8035200" cy="2023430"/>
          </a:xfrm>
          <a:prstGeom prst="rect">
            <a:avLst/>
          </a:prstGeom>
          <a:ln>
            <a:noFill/>
          </a:ln>
        </p:spPr>
      </p:pic>
      <p:sp>
        <p:nvSpPr>
          <p:cNvPr id="240" name="CustomShape 2"/>
          <p:cNvSpPr/>
          <p:nvPr/>
        </p:nvSpPr>
        <p:spPr>
          <a:xfrm>
            <a:off x="2664084" y="6192108"/>
            <a:ext cx="5889960" cy="3661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>
            <a:spAutoFit/>
          </a:bodyPr>
          <a:lstStyle/>
          <a:p>
            <a:pPr>
              <a:lnSpc>
                <a:spcPct val="100000"/>
              </a:lnSpc>
            </a:pPr>
            <a:r>
              <a:rPr lang="en-GB" b="1" spc="-1" dirty="0">
                <a:solidFill>
                  <a:srgbClr val="FF0000"/>
                </a:solidFill>
                <a:latin typeface="Calibri"/>
              </a:rPr>
              <a:t>To plot by groups we need our data to be in a long format!</a:t>
            </a:r>
            <a:endParaRPr lang="en-GB" b="1" spc="-1" dirty="0">
              <a:latin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0D6BA7-C969-9B43-AF5E-D5D918D67420}"/>
              </a:ext>
            </a:extLst>
          </p:cNvPr>
          <p:cNvSpPr txBox="1"/>
          <p:nvPr/>
        </p:nvSpPr>
        <p:spPr>
          <a:xfrm>
            <a:off x="1002149" y="2287841"/>
            <a:ext cx="93335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 err="1">
                <a:solidFill>
                  <a:srgbClr val="FF0000"/>
                </a:solidFill>
              </a:rPr>
              <a:t>pivot_longer</a:t>
            </a:r>
            <a:r>
              <a:rPr lang="en-GB" b="1" dirty="0">
                <a:solidFill>
                  <a:srgbClr val="FF0000"/>
                </a:solidFill>
              </a:rPr>
              <a:t>(data = </a:t>
            </a:r>
            <a:r>
              <a:rPr lang="en-GB" b="1" dirty="0" err="1">
                <a:solidFill>
                  <a:srgbClr val="FF0000"/>
                </a:solidFill>
              </a:rPr>
              <a:t>chrData</a:t>
            </a:r>
            <a:r>
              <a:rPr lang="en-GB" b="1" dirty="0">
                <a:solidFill>
                  <a:srgbClr val="FF0000"/>
                </a:solidFill>
              </a:rPr>
              <a:t>, cols = -region, </a:t>
            </a:r>
            <a:r>
              <a:rPr lang="en-GB" b="1" dirty="0" err="1">
                <a:solidFill>
                  <a:srgbClr val="FF0000"/>
                </a:solidFill>
              </a:rPr>
              <a:t>names_to</a:t>
            </a:r>
            <a:r>
              <a:rPr lang="en-GB" b="1" dirty="0">
                <a:solidFill>
                  <a:srgbClr val="FF0000"/>
                </a:solidFill>
              </a:rPr>
              <a:t> = "variable", </a:t>
            </a:r>
            <a:r>
              <a:rPr lang="en-GB" b="1" dirty="0" err="1">
                <a:solidFill>
                  <a:srgbClr val="FF0000"/>
                </a:solidFill>
              </a:rPr>
              <a:t>values_to</a:t>
            </a:r>
            <a:r>
              <a:rPr lang="en-GB" b="1" dirty="0">
                <a:solidFill>
                  <a:srgbClr val="FF0000"/>
                </a:solidFill>
              </a:rPr>
              <a:t> = "value")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B46AA4-34F6-6841-A92B-D9CAD4A95988}"/>
              </a:ext>
            </a:extLst>
          </p:cNvPr>
          <p:cNvSpPr txBox="1"/>
          <p:nvPr/>
        </p:nvSpPr>
        <p:spPr>
          <a:xfrm>
            <a:off x="1369164" y="5047048"/>
            <a:ext cx="8479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 err="1">
                <a:solidFill>
                  <a:srgbClr val="0070C0"/>
                </a:solidFill>
              </a:rPr>
              <a:t>pivot_wider</a:t>
            </a:r>
            <a:r>
              <a:rPr lang="en-GB" b="1" dirty="0">
                <a:solidFill>
                  <a:srgbClr val="0070C0"/>
                </a:solidFill>
              </a:rPr>
              <a:t>(data = </a:t>
            </a:r>
            <a:r>
              <a:rPr lang="en-GB" b="1" dirty="0" err="1">
                <a:solidFill>
                  <a:srgbClr val="0070C0"/>
                </a:solidFill>
              </a:rPr>
              <a:t>chrData</a:t>
            </a:r>
            <a:r>
              <a:rPr lang="en-GB" b="1" dirty="0">
                <a:solidFill>
                  <a:srgbClr val="0070C0"/>
                </a:solidFill>
              </a:rPr>
              <a:t>, </a:t>
            </a:r>
            <a:r>
              <a:rPr lang="en-GB" b="1" dirty="0" err="1">
                <a:solidFill>
                  <a:srgbClr val="0070C0"/>
                </a:solidFill>
              </a:rPr>
              <a:t>names_from</a:t>
            </a:r>
            <a:r>
              <a:rPr lang="en-GB" b="1" dirty="0">
                <a:solidFill>
                  <a:srgbClr val="0070C0"/>
                </a:solidFill>
              </a:rPr>
              <a:t> = variable, </a:t>
            </a:r>
            <a:r>
              <a:rPr lang="en-GB" b="1" dirty="0" err="1">
                <a:solidFill>
                  <a:srgbClr val="0070C0"/>
                </a:solidFill>
              </a:rPr>
              <a:t>values_from</a:t>
            </a:r>
            <a:r>
              <a:rPr lang="en-GB" b="1" dirty="0">
                <a:solidFill>
                  <a:srgbClr val="0070C0"/>
                </a:solidFill>
              </a:rPr>
              <a:t> = value)</a:t>
            </a:r>
            <a:endParaRPr lang="en-US" dirty="0"/>
          </a:p>
        </p:txBody>
      </p:sp>
      <p:sp>
        <p:nvSpPr>
          <p:cNvPr id="2" name="TextShape 1">
            <a:extLst>
              <a:ext uri="{FF2B5EF4-FFF2-40B4-BE49-F238E27FC236}">
                <a16:creationId xmlns:a16="http://schemas.microsoft.com/office/drawing/2014/main" id="{FC7DD67E-ADC0-936D-BBEE-3D00E1BF3F0A}"/>
              </a:ext>
            </a:extLst>
          </p:cNvPr>
          <p:cNvSpPr txBox="1"/>
          <p:nvPr/>
        </p:nvSpPr>
        <p:spPr>
          <a:xfrm>
            <a:off x="1855920" y="572040"/>
            <a:ext cx="8479800" cy="1142640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 dirty="0">
                <a:solidFill>
                  <a:srgbClr val="000000"/>
                </a:solidFill>
                <a:latin typeface="Calibri"/>
              </a:rPr>
              <a:t>Reshaping data with </a:t>
            </a:r>
            <a:r>
              <a:rPr lang="en-GB" sz="4400" b="1" spc="-1" dirty="0" err="1">
                <a:solidFill>
                  <a:srgbClr val="000000"/>
                </a:solidFill>
                <a:latin typeface="Calibri"/>
              </a:rPr>
              <a:t>tidyr</a:t>
            </a:r>
            <a:endParaRPr lang="en-US" sz="4400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AF54D8-A052-76DC-866D-BF8FAEFC0D82}"/>
              </a:ext>
            </a:extLst>
          </p:cNvPr>
          <p:cNvSpPr txBox="1"/>
          <p:nvPr/>
        </p:nvSpPr>
        <p:spPr>
          <a:xfrm>
            <a:off x="2559206" y="1818671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pc="-1" dirty="0">
                <a:solidFill>
                  <a:srgbClr val="000000"/>
                </a:solidFill>
                <a:latin typeface="Calibri"/>
              </a:rPr>
              <a:t>Wide-to-long format:</a:t>
            </a:r>
          </a:p>
        </p:txBody>
      </p:sp>
      <p:sp>
        <p:nvSpPr>
          <p:cNvPr id="5" name="CustomShape 4">
            <a:extLst>
              <a:ext uri="{FF2B5EF4-FFF2-40B4-BE49-F238E27FC236}">
                <a16:creationId xmlns:a16="http://schemas.microsoft.com/office/drawing/2014/main" id="{223C68D5-330D-B127-9F9D-2522A1FD36B0}"/>
              </a:ext>
            </a:extLst>
          </p:cNvPr>
          <p:cNvSpPr/>
          <p:nvPr/>
        </p:nvSpPr>
        <p:spPr>
          <a:xfrm>
            <a:off x="2864468" y="4653749"/>
            <a:ext cx="5489192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pc="-1" dirty="0">
                <a:solidFill>
                  <a:srgbClr val="000000"/>
                </a:solidFill>
                <a:latin typeface="Calibri"/>
              </a:rPr>
              <a:t> Long-to-wide format: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D7B618-A4AE-C679-20BE-0D701C1A95A2}"/>
              </a:ext>
            </a:extLst>
          </p:cNvPr>
          <p:cNvSpPr txBox="1"/>
          <p:nvPr/>
        </p:nvSpPr>
        <p:spPr>
          <a:xfrm>
            <a:off x="9481380" y="5893135"/>
            <a:ext cx="2866571" cy="36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GB" b="1" spc="-1" dirty="0" err="1">
                <a:solidFill>
                  <a:srgbClr val="000000"/>
                </a:solidFill>
                <a:latin typeface="Calibri"/>
              </a:rPr>
              <a:t>tidyr</a:t>
            </a:r>
            <a:r>
              <a:rPr lang="en-GB" spc="-1" dirty="0">
                <a:solidFill>
                  <a:srgbClr val="000000"/>
                </a:solidFill>
                <a:latin typeface="Calibri"/>
              </a:rPr>
              <a:t> is a part of </a:t>
            </a:r>
            <a:r>
              <a:rPr lang="en-GB" spc="-1" dirty="0" err="1">
                <a:solidFill>
                  <a:srgbClr val="000000"/>
                </a:solidFill>
                <a:latin typeface="Calibri"/>
              </a:rPr>
              <a:t>Tidyverse</a:t>
            </a:r>
            <a:r>
              <a:rPr lang="en-GB" spc="-1" dirty="0">
                <a:solidFill>
                  <a:srgbClr val="000000"/>
                </a:solidFill>
                <a:latin typeface="Calibri"/>
              </a:rPr>
              <a:t> </a:t>
            </a:r>
            <a:endParaRPr lang="en-GB" spc="-1" dirty="0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CustomShape 1"/>
          <p:cNvSpPr/>
          <p:nvPr/>
        </p:nvSpPr>
        <p:spPr>
          <a:xfrm>
            <a:off x="1981200" y="274680"/>
            <a:ext cx="8228880" cy="1142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 dirty="0">
                <a:solidFill>
                  <a:srgbClr val="000000"/>
                </a:solidFill>
                <a:latin typeface="Calibri"/>
                <a:ea typeface="DejaVu Sans"/>
              </a:rPr>
              <a:t>Error bars – </a:t>
            </a:r>
            <a:r>
              <a:rPr lang="en-GB" sz="4400" b="1" spc="-1" dirty="0" err="1">
                <a:solidFill>
                  <a:srgbClr val="000000"/>
                </a:solidFill>
                <a:latin typeface="Calibri"/>
                <a:ea typeface="DejaVu Sans"/>
              </a:rPr>
              <a:t>geom_bar</a:t>
            </a:r>
            <a:r>
              <a:rPr lang="en-GB" sz="4400" b="1" spc="-1" dirty="0">
                <a:solidFill>
                  <a:srgbClr val="000000"/>
                </a:solidFill>
                <a:latin typeface="Calibri"/>
                <a:ea typeface="DejaVu Sans"/>
              </a:rPr>
              <a:t>()</a:t>
            </a:r>
            <a:endParaRPr lang="en-GB" sz="4400" b="1" spc="-1" dirty="0">
              <a:latin typeface="Arial"/>
            </a:endParaRPr>
          </a:p>
        </p:txBody>
      </p:sp>
      <p:pic>
        <p:nvPicPr>
          <p:cNvPr id="245" name="Picture 7" descr="Chart, bar chart&#10;&#10;Description automatically generated"/>
          <p:cNvPicPr/>
          <p:nvPr/>
        </p:nvPicPr>
        <p:blipFill>
          <a:blip r:embed="rId2"/>
          <a:stretch/>
        </p:blipFill>
        <p:spPr>
          <a:xfrm>
            <a:off x="1464651" y="1284699"/>
            <a:ext cx="8958549" cy="3383610"/>
          </a:xfrm>
          <a:prstGeom prst="rect">
            <a:avLst/>
          </a:prstGeom>
          <a:ln>
            <a:noFill/>
          </a:ln>
        </p:spPr>
      </p:pic>
      <p:sp>
        <p:nvSpPr>
          <p:cNvPr id="246" name="CustomShape 2"/>
          <p:cNvSpPr/>
          <p:nvPr/>
        </p:nvSpPr>
        <p:spPr>
          <a:xfrm>
            <a:off x="1981200" y="4536047"/>
            <a:ext cx="8442000" cy="147587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b="1" spc="-1" dirty="0" err="1">
                <a:solidFill>
                  <a:srgbClr val="000000"/>
                </a:solidFill>
                <a:latin typeface="Courier New"/>
                <a:ea typeface="DejaVu Sans"/>
              </a:rPr>
              <a:t>ggplot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DejaVu Sans"/>
              </a:rPr>
              <a:t>(data) </a:t>
            </a:r>
            <a:endParaRPr lang="en-GB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latin typeface="Courier New"/>
                <a:ea typeface="DejaVu Sans"/>
              </a:rPr>
              <a:t>+ </a:t>
            </a:r>
            <a:r>
              <a:rPr lang="en-US" b="1" spc="-1" dirty="0" err="1">
                <a:solidFill>
                  <a:srgbClr val="000000"/>
                </a:solidFill>
                <a:latin typeface="Courier New"/>
                <a:ea typeface="DejaVu Sans"/>
              </a:rPr>
              <a:t>geom_bar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DejaVu Sans"/>
              </a:rPr>
              <a:t>( </a:t>
            </a:r>
            <a:r>
              <a:rPr lang="en-US" b="1" spc="-1" dirty="0" err="1">
                <a:solidFill>
                  <a:srgbClr val="000000"/>
                </a:solidFill>
                <a:latin typeface="Courier New"/>
                <a:ea typeface="DejaVu Sans"/>
              </a:rPr>
              <a:t>aes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DejaVu Sans"/>
              </a:rPr>
              <a:t>(x=group, y=mean), stat="identity", fill="</a:t>
            </a:r>
            <a:r>
              <a:rPr lang="en-US" spc="-1" dirty="0" err="1">
                <a:solidFill>
                  <a:srgbClr val="000000"/>
                </a:solidFill>
                <a:latin typeface="Courier New"/>
                <a:ea typeface="DejaVu Sans"/>
              </a:rPr>
              <a:t>forestgreen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DejaVu Sans"/>
              </a:rPr>
              <a:t>", alpha=0.5) </a:t>
            </a:r>
            <a:endParaRPr lang="en-GB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latin typeface="Courier New"/>
                <a:ea typeface="DejaVu Sans"/>
              </a:rPr>
              <a:t>+ </a:t>
            </a:r>
            <a:r>
              <a:rPr lang="en-US" b="1" spc="-1" dirty="0" err="1">
                <a:solidFill>
                  <a:srgbClr val="000000"/>
                </a:solidFill>
                <a:latin typeface="Courier New"/>
                <a:ea typeface="DejaVu Sans"/>
              </a:rPr>
              <a:t>geom_errorbar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DejaVu Sans"/>
              </a:rPr>
              <a:t>( </a:t>
            </a:r>
            <a:r>
              <a:rPr lang="en-US" b="1" spc="-1" dirty="0" err="1">
                <a:solidFill>
                  <a:srgbClr val="000000"/>
                </a:solidFill>
                <a:latin typeface="Courier New"/>
                <a:ea typeface="DejaVu Sans"/>
              </a:rPr>
              <a:t>aes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DejaVu Sans"/>
              </a:rPr>
              <a:t>(</a:t>
            </a:r>
            <a:r>
              <a:rPr lang="en-US" spc="-1" dirty="0">
                <a:solidFill>
                  <a:srgbClr val="000000"/>
                </a:solidFill>
                <a:highlight>
                  <a:srgbClr val="FFFF00"/>
                </a:highlight>
                <a:latin typeface="Courier New"/>
                <a:ea typeface="DejaVu Sans"/>
              </a:rPr>
              <a:t>x=group, </a:t>
            </a:r>
            <a:r>
              <a:rPr lang="en-US" spc="-1" dirty="0" err="1">
                <a:solidFill>
                  <a:srgbClr val="000000"/>
                </a:solidFill>
                <a:highlight>
                  <a:srgbClr val="FFFF00"/>
                </a:highlight>
                <a:latin typeface="Courier New"/>
                <a:ea typeface="DejaVu Sans"/>
              </a:rPr>
              <a:t>ymin</a:t>
            </a:r>
            <a:r>
              <a:rPr lang="en-US" spc="-1" dirty="0">
                <a:solidFill>
                  <a:srgbClr val="000000"/>
                </a:solidFill>
                <a:highlight>
                  <a:srgbClr val="FFFF00"/>
                </a:highlight>
                <a:latin typeface="Courier New"/>
                <a:ea typeface="DejaVu Sans"/>
              </a:rPr>
              <a:t>=mean-</a:t>
            </a:r>
            <a:r>
              <a:rPr lang="en-US" spc="-1" dirty="0" err="1">
                <a:solidFill>
                  <a:srgbClr val="000000"/>
                </a:solidFill>
                <a:highlight>
                  <a:srgbClr val="FFFF00"/>
                </a:highlight>
                <a:latin typeface="Courier New"/>
                <a:ea typeface="DejaVu Sans"/>
              </a:rPr>
              <a:t>sd</a:t>
            </a:r>
            <a:r>
              <a:rPr lang="en-US" spc="-1" dirty="0">
                <a:solidFill>
                  <a:srgbClr val="000000"/>
                </a:solidFill>
                <a:highlight>
                  <a:srgbClr val="FFFF00"/>
                </a:highlight>
                <a:latin typeface="Courier New"/>
                <a:ea typeface="DejaVu Sans"/>
              </a:rPr>
              <a:t>, </a:t>
            </a:r>
            <a:r>
              <a:rPr lang="en-US" spc="-1" dirty="0" err="1">
                <a:solidFill>
                  <a:srgbClr val="000000"/>
                </a:solidFill>
                <a:highlight>
                  <a:srgbClr val="FFFF00"/>
                </a:highlight>
                <a:latin typeface="Courier New"/>
                <a:ea typeface="DejaVu Sans"/>
              </a:rPr>
              <a:t>ymax</a:t>
            </a:r>
            <a:r>
              <a:rPr lang="en-US" spc="-1" dirty="0">
                <a:solidFill>
                  <a:srgbClr val="000000"/>
                </a:solidFill>
                <a:highlight>
                  <a:srgbClr val="FFFF00"/>
                </a:highlight>
                <a:latin typeface="Courier New"/>
                <a:ea typeface="DejaVu Sans"/>
              </a:rPr>
              <a:t>=</a:t>
            </a:r>
            <a:r>
              <a:rPr lang="en-US" spc="-1" dirty="0" err="1">
                <a:solidFill>
                  <a:srgbClr val="000000"/>
                </a:solidFill>
                <a:highlight>
                  <a:srgbClr val="FFFF00"/>
                </a:highlight>
                <a:latin typeface="Courier New"/>
                <a:ea typeface="DejaVu Sans"/>
              </a:rPr>
              <a:t>mean+sd</a:t>
            </a:r>
            <a:r>
              <a:rPr lang="en-US" spc="-1" dirty="0">
                <a:solidFill>
                  <a:srgbClr val="000000"/>
                </a:solidFill>
                <a:highlight>
                  <a:srgbClr val="FFFF00"/>
                </a:highlight>
                <a:latin typeface="Courier New"/>
                <a:ea typeface="DejaVu Sans"/>
              </a:rPr>
              <a:t>), width=0.4, </a:t>
            </a:r>
            <a:r>
              <a:rPr lang="en-US" spc="-1" dirty="0" err="1">
                <a:solidFill>
                  <a:srgbClr val="000000"/>
                </a:solidFill>
                <a:highlight>
                  <a:srgbClr val="FFFF00"/>
                </a:highlight>
                <a:latin typeface="Courier New"/>
                <a:ea typeface="DejaVu Sans"/>
              </a:rPr>
              <a:t>colour</a:t>
            </a:r>
            <a:r>
              <a:rPr lang="en-US" spc="-1" dirty="0">
                <a:solidFill>
                  <a:srgbClr val="000000"/>
                </a:solidFill>
                <a:highlight>
                  <a:srgbClr val="FFFF00"/>
                </a:highlight>
                <a:latin typeface="Courier New"/>
                <a:ea typeface="DejaVu Sans"/>
              </a:rPr>
              <a:t>="orange", size=1.5)</a:t>
            </a:r>
            <a:endParaRPr lang="en-GB" spc="-1" dirty="0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CustomShape 1"/>
          <p:cNvSpPr/>
          <p:nvPr/>
        </p:nvSpPr>
        <p:spPr>
          <a:xfrm>
            <a:off x="1981200" y="274680"/>
            <a:ext cx="8228880" cy="1142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 dirty="0">
                <a:solidFill>
                  <a:srgbClr val="000000"/>
                </a:solidFill>
                <a:latin typeface="Calibri"/>
                <a:ea typeface="DejaVu Sans"/>
              </a:rPr>
              <a:t>SD, SE, CI</a:t>
            </a:r>
            <a:endParaRPr lang="en-GB" sz="4400" b="1" spc="-1" dirty="0">
              <a:latin typeface="Arial"/>
            </a:endParaRPr>
          </a:p>
        </p:txBody>
      </p:sp>
      <p:sp>
        <p:nvSpPr>
          <p:cNvPr id="248" name="CustomShape 2"/>
          <p:cNvSpPr/>
          <p:nvPr/>
        </p:nvSpPr>
        <p:spPr>
          <a:xfrm>
            <a:off x="1976520" y="1532880"/>
            <a:ext cx="8160120" cy="44794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marL="285840" indent="-285120">
              <a:buClr>
                <a:srgbClr val="212529"/>
              </a:buClr>
              <a:buFont typeface="Arial"/>
              <a:buChar char="•"/>
            </a:pPr>
            <a:r>
              <a:rPr lang="en-US" spc="-1" dirty="0">
                <a:solidFill>
                  <a:srgbClr val="212529"/>
                </a:solidFill>
                <a:latin typeface="Montserrat"/>
                <a:ea typeface="DejaVu Sans"/>
              </a:rPr>
              <a:t>Standard Deviation (SD) </a:t>
            </a:r>
            <a:r>
              <a:rPr lang="en-US" spc="-1" dirty="0">
                <a:solidFill>
                  <a:srgbClr val="212529"/>
                </a:solidFill>
                <a:latin typeface="Roboto Slab"/>
                <a:ea typeface="DejaVu Sans"/>
              </a:rPr>
              <a:t>represents the amount of dispersion of the variable.</a:t>
            </a:r>
            <a:r>
              <a:rPr lang="en-US" spc="-1" dirty="0">
                <a:solidFill>
                  <a:srgbClr val="212529"/>
                </a:solidFill>
                <a:latin typeface="Roboto Slab"/>
                <a:ea typeface="Calibri"/>
              </a:rPr>
              <a:t> </a:t>
            </a:r>
            <a:r>
              <a:rPr lang="en-US" spc="-1" dirty="0">
                <a:solidFill>
                  <a:srgbClr val="000000"/>
                </a:solidFill>
                <a:latin typeface="Calibri"/>
                <a:ea typeface="Calibri"/>
              </a:rPr>
              <a:t>Calculated as the root square of the variance:</a:t>
            </a:r>
            <a:endParaRPr lang="en-GB" spc="-1" dirty="0">
              <a:latin typeface="Arial"/>
            </a:endParaRPr>
          </a:p>
          <a:p>
            <a:pPr marL="285840" indent="-285120">
              <a:buClr>
                <a:srgbClr val="212529"/>
              </a:buClr>
              <a:buFont typeface="Arial"/>
              <a:buChar char="•"/>
            </a:pPr>
            <a:r>
              <a:rPr lang="en-US" spc="-1" dirty="0" err="1">
                <a:solidFill>
                  <a:srgbClr val="000000"/>
                </a:solidFill>
                <a:latin typeface="Courier New"/>
                <a:ea typeface="Calibri"/>
              </a:rPr>
              <a:t>sd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 &lt;- </a:t>
            </a:r>
            <a:r>
              <a:rPr lang="en-US" b="1" spc="-1" dirty="0" err="1">
                <a:solidFill>
                  <a:srgbClr val="000000"/>
                </a:solidFill>
                <a:latin typeface="Courier New"/>
                <a:ea typeface="Calibri"/>
              </a:rPr>
              <a:t>sd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(</a:t>
            </a:r>
            <a:r>
              <a:rPr lang="en-US" spc="-1" dirty="0" err="1">
                <a:solidFill>
                  <a:srgbClr val="000000"/>
                </a:solidFill>
                <a:latin typeface="Courier New"/>
                <a:ea typeface="Calibri"/>
              </a:rPr>
              <a:t>vec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)</a:t>
            </a:r>
            <a:endParaRPr lang="en-GB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pc="-1" dirty="0" err="1">
                <a:solidFill>
                  <a:srgbClr val="000000"/>
                </a:solidFill>
                <a:latin typeface="Courier New"/>
                <a:ea typeface="Calibri"/>
              </a:rPr>
              <a:t>sd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 &lt;- </a:t>
            </a:r>
            <a:r>
              <a:rPr lang="en-US" b="1" spc="-1" dirty="0">
                <a:solidFill>
                  <a:srgbClr val="000000"/>
                </a:solidFill>
                <a:latin typeface="Courier New"/>
                <a:ea typeface="Calibri"/>
              </a:rPr>
              <a:t>sqrt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(</a:t>
            </a:r>
            <a:r>
              <a:rPr lang="en-US" b="1" spc="-1" dirty="0">
                <a:solidFill>
                  <a:srgbClr val="000000"/>
                </a:solidFill>
                <a:latin typeface="Courier New"/>
                <a:ea typeface="Calibri"/>
              </a:rPr>
              <a:t>var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(</a:t>
            </a:r>
            <a:r>
              <a:rPr lang="en-US" spc="-1" dirty="0" err="1">
                <a:solidFill>
                  <a:srgbClr val="000000"/>
                </a:solidFill>
                <a:latin typeface="Courier New"/>
                <a:ea typeface="Calibri"/>
              </a:rPr>
              <a:t>vec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))</a:t>
            </a:r>
            <a:endParaRPr lang="en-GB" spc="-1" dirty="0">
              <a:latin typeface="Arial"/>
            </a:endParaRPr>
          </a:p>
          <a:p>
            <a:pPr marL="285840" indent="-285120">
              <a:buClr>
                <a:srgbClr val="000000"/>
              </a:buClr>
              <a:buFont typeface="Arial"/>
              <a:buChar char="•"/>
            </a:pPr>
            <a:r>
              <a:rPr lang="en-US" spc="-1" dirty="0">
                <a:solidFill>
                  <a:srgbClr val="000000"/>
                </a:solidFill>
                <a:latin typeface="Calibri"/>
                <a:ea typeface="Calibri"/>
              </a:rPr>
              <a:t>Standard Error (SE) is the standard deviation of the vector sampling distribution. Calculated as the SD divided by the square root of the sample size.</a:t>
            </a:r>
            <a:endParaRPr lang="en-GB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se = </a:t>
            </a:r>
            <a:r>
              <a:rPr lang="en-US" b="1" spc="-1" dirty="0" err="1">
                <a:solidFill>
                  <a:srgbClr val="000000"/>
                </a:solidFill>
                <a:latin typeface="Courier New"/>
                <a:ea typeface="Calibri"/>
              </a:rPr>
              <a:t>sd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(</a:t>
            </a:r>
            <a:r>
              <a:rPr lang="en-US" spc="-1" dirty="0" err="1">
                <a:solidFill>
                  <a:srgbClr val="000000"/>
                </a:solidFill>
                <a:latin typeface="Courier New"/>
                <a:ea typeface="Calibri"/>
              </a:rPr>
              <a:t>vec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) / </a:t>
            </a:r>
            <a:r>
              <a:rPr lang="en-US" b="1" spc="-1" dirty="0">
                <a:solidFill>
                  <a:srgbClr val="000000"/>
                </a:solidFill>
                <a:latin typeface="Courier New"/>
                <a:ea typeface="Calibri"/>
              </a:rPr>
              <a:t>sqrt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(</a:t>
            </a:r>
            <a:r>
              <a:rPr lang="en-US" b="1" spc="-1" dirty="0">
                <a:solidFill>
                  <a:srgbClr val="000000"/>
                </a:solidFill>
                <a:latin typeface="Courier New"/>
                <a:ea typeface="Calibri"/>
              </a:rPr>
              <a:t>length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(</a:t>
            </a:r>
            <a:r>
              <a:rPr lang="en-US" spc="-1" dirty="0" err="1">
                <a:solidFill>
                  <a:srgbClr val="000000"/>
                </a:solidFill>
                <a:latin typeface="Courier New"/>
                <a:ea typeface="Calibri"/>
              </a:rPr>
              <a:t>vec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))</a:t>
            </a:r>
            <a:endParaRPr lang="en-GB" spc="-1" dirty="0">
              <a:latin typeface="Arial"/>
            </a:endParaRPr>
          </a:p>
          <a:p>
            <a:pPr marL="285840" indent="-285120">
              <a:buClr>
                <a:srgbClr val="000000"/>
              </a:buClr>
              <a:buFont typeface="Arial"/>
              <a:buChar char="•"/>
            </a:pPr>
            <a:r>
              <a:rPr lang="en-US" spc="-1" dirty="0">
                <a:solidFill>
                  <a:srgbClr val="000000"/>
                </a:solidFill>
                <a:latin typeface="Calibri"/>
                <a:ea typeface="Calibri"/>
              </a:rPr>
              <a:t>Confidence Interval (CI).</a:t>
            </a:r>
            <a:endParaRPr lang="en-GB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latin typeface="Calibri"/>
                <a:ea typeface="Calibri"/>
              </a:rPr>
              <a:t>This interval is defined so that there is a specified probability that a value lies within it. It is calculated as t * SE. Where t is the value of the Student's t-distribution for a specific alpha. </a:t>
            </a:r>
            <a:endParaRPr lang="en-GB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alpha=0.05</a:t>
            </a:r>
            <a:endParaRPr lang="en-GB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t=</a:t>
            </a:r>
            <a:r>
              <a:rPr lang="en-US" b="1" spc="-1" dirty="0">
                <a:solidFill>
                  <a:srgbClr val="000000"/>
                </a:solidFill>
                <a:latin typeface="Courier New"/>
                <a:ea typeface="Calibri"/>
              </a:rPr>
              <a:t>qt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((1-alpha)/2 + .5, </a:t>
            </a:r>
            <a:r>
              <a:rPr lang="en-US" b="1" spc="-1" dirty="0">
                <a:solidFill>
                  <a:srgbClr val="000000"/>
                </a:solidFill>
                <a:latin typeface="Courier New"/>
                <a:ea typeface="Calibri"/>
              </a:rPr>
              <a:t>length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(</a:t>
            </a:r>
            <a:r>
              <a:rPr lang="en-US" spc="-1" dirty="0" err="1">
                <a:solidFill>
                  <a:srgbClr val="000000"/>
                </a:solidFill>
                <a:latin typeface="Courier New"/>
                <a:ea typeface="Calibri"/>
              </a:rPr>
              <a:t>vec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)-1)   </a:t>
            </a:r>
            <a:r>
              <a:rPr lang="en-US" i="1" spc="-1" dirty="0">
                <a:solidFill>
                  <a:srgbClr val="000000"/>
                </a:solidFill>
                <a:latin typeface="Courier New"/>
                <a:ea typeface="Calibri"/>
              </a:rPr>
              <a:t># tend to 1.96 if sample size is big enough</a:t>
            </a:r>
            <a:endParaRPr lang="en-GB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i="1" spc="-1" dirty="0">
                <a:solidFill>
                  <a:srgbClr val="000000"/>
                </a:solidFill>
                <a:latin typeface="Courier New"/>
                <a:ea typeface="Calibri"/>
              </a:rPr>
              <a:t>CI=t*se</a:t>
            </a:r>
            <a:endParaRPr lang="en-GB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GB" spc="-1" dirty="0">
              <a:latin typeface="Arial"/>
            </a:endParaRPr>
          </a:p>
        </p:txBody>
      </p:sp>
      <p:sp>
        <p:nvSpPr>
          <p:cNvPr id="249" name="CustomShape 3"/>
          <p:cNvSpPr/>
          <p:nvPr/>
        </p:nvSpPr>
        <p:spPr>
          <a:xfrm>
            <a:off x="1976520" y="5763600"/>
            <a:ext cx="823824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pc="-1" dirty="0">
                <a:solidFill>
                  <a:srgbClr val="FF0000"/>
                </a:solidFill>
                <a:latin typeface="Calibri"/>
                <a:ea typeface="DejaVu Sans"/>
              </a:rPr>
              <a:t>Hint: easier way to add error bars without calculation! </a:t>
            </a:r>
            <a:r>
              <a:rPr lang="en-GB" spc="-1" dirty="0">
                <a:solidFill>
                  <a:srgbClr val="FF0000"/>
                </a:solidFill>
                <a:latin typeface="Calibri"/>
                <a:ea typeface="Calibri"/>
              </a:rPr>
              <a:t>Explore </a:t>
            </a:r>
            <a:r>
              <a:rPr lang="en-GB" b="1" spc="-1" dirty="0" err="1">
                <a:solidFill>
                  <a:srgbClr val="FF0000"/>
                </a:solidFill>
                <a:latin typeface="Courier New"/>
                <a:ea typeface="Calibri"/>
              </a:rPr>
              <a:t>stat_summary</a:t>
            </a:r>
            <a:r>
              <a:rPr lang="en-GB" b="1" spc="-1" dirty="0">
                <a:solidFill>
                  <a:srgbClr val="FF0000"/>
                </a:solidFill>
                <a:latin typeface="Courier New"/>
                <a:ea typeface="Calibri"/>
              </a:rPr>
              <a:t>()</a:t>
            </a:r>
            <a:endParaRPr lang="en-GB" spc="-1" dirty="0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CustomShape 1"/>
          <p:cNvSpPr/>
          <p:nvPr/>
        </p:nvSpPr>
        <p:spPr>
          <a:xfrm>
            <a:off x="1981200" y="274680"/>
            <a:ext cx="8228880" cy="1142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spc="-1">
                <a:solidFill>
                  <a:srgbClr val="000000"/>
                </a:solidFill>
                <a:latin typeface="Calibri"/>
                <a:ea typeface="DejaVu Sans"/>
              </a:rPr>
              <a:t>Faceting</a:t>
            </a:r>
            <a:endParaRPr lang="en-GB" sz="4400" spc="-1">
              <a:latin typeface="Arial"/>
            </a:endParaRPr>
          </a:p>
        </p:txBody>
      </p:sp>
      <p:sp>
        <p:nvSpPr>
          <p:cNvPr id="251" name="CustomShape 2"/>
          <p:cNvSpPr/>
          <p:nvPr/>
        </p:nvSpPr>
        <p:spPr>
          <a:xfrm>
            <a:off x="1981200" y="1130400"/>
            <a:ext cx="8228880" cy="8928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>
              <a:spcBef>
                <a:spcPts val="400"/>
              </a:spcBef>
              <a:tabLst>
                <a:tab pos="0" algn="l"/>
              </a:tabLst>
            </a:pPr>
            <a:r>
              <a:rPr lang="en-GB" sz="2000" spc="-1">
                <a:solidFill>
                  <a:srgbClr val="000000"/>
                </a:solidFill>
                <a:latin typeface="Courier New"/>
                <a:ea typeface="Calibri"/>
              </a:rPr>
              <a:t>facet_wrap(~var)</a:t>
            </a:r>
            <a:r>
              <a:rPr lang="en-GB" sz="2000" spc="-1">
                <a:solidFill>
                  <a:srgbClr val="000000"/>
                </a:solidFill>
                <a:latin typeface="Calibri"/>
                <a:ea typeface="Calibri"/>
              </a:rPr>
              <a:t> builds a new chart for each level of a categorical variable</a:t>
            </a:r>
            <a:endParaRPr lang="en-GB" sz="2000" spc="-1">
              <a:latin typeface="Arial"/>
            </a:endParaRPr>
          </a:p>
        </p:txBody>
      </p:sp>
      <p:pic>
        <p:nvPicPr>
          <p:cNvPr id="252" name="Picture 4" descr="Chart, waterfall chart&#10;&#10;Description automatically generated"/>
          <p:cNvPicPr/>
          <p:nvPr/>
        </p:nvPicPr>
        <p:blipFill>
          <a:blip r:embed="rId2"/>
          <a:stretch/>
        </p:blipFill>
        <p:spPr>
          <a:xfrm>
            <a:off x="2156520" y="1917000"/>
            <a:ext cx="2742480" cy="1958760"/>
          </a:xfrm>
          <a:prstGeom prst="rect">
            <a:avLst/>
          </a:prstGeom>
          <a:ln>
            <a:noFill/>
          </a:ln>
        </p:spPr>
      </p:pic>
      <p:pic>
        <p:nvPicPr>
          <p:cNvPr id="253" name="Picture 5" descr="Chart, box and whisker chart&#10;&#10;Description automatically generated"/>
          <p:cNvPicPr/>
          <p:nvPr/>
        </p:nvPicPr>
        <p:blipFill>
          <a:blip r:embed="rId3"/>
          <a:stretch/>
        </p:blipFill>
        <p:spPr>
          <a:xfrm>
            <a:off x="5632680" y="1917000"/>
            <a:ext cx="2742480" cy="1958760"/>
          </a:xfrm>
          <a:prstGeom prst="rect">
            <a:avLst/>
          </a:prstGeom>
          <a:ln>
            <a:noFill/>
          </a:ln>
        </p:spPr>
      </p:pic>
      <p:sp>
        <p:nvSpPr>
          <p:cNvPr id="254" name="CustomShape 3"/>
          <p:cNvSpPr/>
          <p:nvPr/>
        </p:nvSpPr>
        <p:spPr>
          <a:xfrm>
            <a:off x="1992720" y="3803760"/>
            <a:ext cx="8228880" cy="8928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>
              <a:spcBef>
                <a:spcPts val="400"/>
              </a:spcBef>
              <a:tabLst>
                <a:tab pos="0" algn="l"/>
              </a:tabLst>
            </a:pPr>
            <a:r>
              <a:rPr lang="en-GB" sz="2000" spc="-1" dirty="0" err="1">
                <a:solidFill>
                  <a:srgbClr val="000000"/>
                </a:solidFill>
                <a:latin typeface="Courier New"/>
                <a:ea typeface="Calibri"/>
              </a:rPr>
              <a:t>facet_grid</a:t>
            </a:r>
            <a:r>
              <a:rPr lang="en-GB" sz="2000" spc="-1" dirty="0">
                <a:solidFill>
                  <a:srgbClr val="000000"/>
                </a:solidFill>
                <a:latin typeface="Courier New"/>
                <a:ea typeface="Calibri"/>
              </a:rPr>
              <a:t>(var1~var2)</a:t>
            </a:r>
            <a:r>
              <a:rPr lang="en-GB" sz="2000" spc="-1" dirty="0">
                <a:solidFill>
                  <a:srgbClr val="000000"/>
                </a:solidFill>
                <a:latin typeface="Calibri"/>
                <a:ea typeface="Calibri"/>
              </a:rPr>
              <a:t> builds one chart for each combinations of 2 categorical variables</a:t>
            </a:r>
            <a:endParaRPr lang="en-GB" sz="2000" spc="-1" dirty="0">
              <a:latin typeface="Arial"/>
            </a:endParaRPr>
          </a:p>
          <a:p>
            <a:pPr>
              <a:spcBef>
                <a:spcPts val="400"/>
              </a:spcBef>
              <a:tabLst>
                <a:tab pos="0" algn="l"/>
              </a:tabLst>
            </a:pPr>
            <a:endParaRPr lang="en-GB" sz="2000" spc="-1" dirty="0">
              <a:latin typeface="Arial"/>
            </a:endParaRPr>
          </a:p>
        </p:txBody>
      </p:sp>
      <p:pic>
        <p:nvPicPr>
          <p:cNvPr id="255" name="Picture 8" descr="Chart, scatter chart&#10;&#10;Description automatically generated"/>
          <p:cNvPicPr/>
          <p:nvPr/>
        </p:nvPicPr>
        <p:blipFill>
          <a:blip r:embed="rId4"/>
          <a:stretch/>
        </p:blipFill>
        <p:spPr>
          <a:xfrm>
            <a:off x="4239120" y="4249440"/>
            <a:ext cx="2445120" cy="24606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CustomShape 1"/>
          <p:cNvSpPr/>
          <p:nvPr/>
        </p:nvSpPr>
        <p:spPr>
          <a:xfrm>
            <a:off x="1981200" y="684000"/>
            <a:ext cx="8227800" cy="11437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>
                <a:solidFill>
                  <a:srgbClr val="000000"/>
                </a:solidFill>
                <a:latin typeface="Calibri"/>
                <a:ea typeface="DejaVu Sans"/>
              </a:rPr>
              <a:t>Basic statistics</a:t>
            </a:r>
            <a:endParaRPr lang="en-GB" sz="4400" spc="-1">
              <a:latin typeface="Arial"/>
            </a:endParaRPr>
          </a:p>
        </p:txBody>
      </p:sp>
      <p:sp>
        <p:nvSpPr>
          <p:cNvPr id="195" name="CustomShape 2"/>
          <p:cNvSpPr/>
          <p:nvPr/>
        </p:nvSpPr>
        <p:spPr>
          <a:xfrm>
            <a:off x="1981200" y="1700280"/>
            <a:ext cx="8227800" cy="48639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 fontScale="91000" lnSpcReduction="10000"/>
          </a:bodyPr>
          <a:lstStyle/>
          <a:p>
            <a:pPr marL="343080" indent="-342000"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  <a:ea typeface="Calibri"/>
              </a:rPr>
              <a:t>Correlations – </a:t>
            </a:r>
            <a:r>
              <a:rPr lang="en-GB" sz="2000" spc="-1" dirty="0" err="1">
                <a:solidFill>
                  <a:srgbClr val="000000"/>
                </a:solidFill>
                <a:latin typeface="Courier New"/>
                <a:ea typeface="Calibri"/>
              </a:rPr>
              <a:t>cor</a:t>
            </a:r>
            <a:r>
              <a:rPr lang="en-GB" sz="2000" spc="-1" dirty="0">
                <a:solidFill>
                  <a:srgbClr val="000000"/>
                </a:solidFill>
                <a:latin typeface="Courier New"/>
                <a:ea typeface="Calibri"/>
              </a:rPr>
              <a:t>(), </a:t>
            </a:r>
            <a:r>
              <a:rPr lang="en-GB" sz="2000" spc="-1" dirty="0" err="1">
                <a:solidFill>
                  <a:srgbClr val="000000"/>
                </a:solidFill>
                <a:latin typeface="Courier New"/>
                <a:ea typeface="Calibri"/>
              </a:rPr>
              <a:t>cor.test</a:t>
            </a:r>
            <a:r>
              <a:rPr lang="en-GB" sz="2000" spc="-1" dirty="0">
                <a:solidFill>
                  <a:srgbClr val="000000"/>
                </a:solidFill>
                <a:latin typeface="Courier New"/>
                <a:ea typeface="Calibri"/>
              </a:rPr>
              <a:t>()</a:t>
            </a:r>
            <a:endParaRPr lang="en-GB" sz="2000" spc="-1" dirty="0">
              <a:latin typeface="Arial"/>
            </a:endParaRPr>
          </a:p>
          <a:p>
            <a:pPr marL="343080" indent="-342000"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  <a:ea typeface="Calibri"/>
              </a:rPr>
              <a:t>T-test (parametric):</a:t>
            </a:r>
            <a:endParaRPr lang="en-GB" sz="2000" spc="-1" dirty="0">
              <a:latin typeface="Arial"/>
            </a:endParaRPr>
          </a:p>
          <a:p>
            <a:pPr marL="343080" indent="-342000">
              <a:spcBef>
                <a:spcPts val="400"/>
              </a:spcBef>
              <a:buClr>
                <a:srgbClr val="000000"/>
              </a:buClr>
              <a:buFont typeface="Courier New"/>
              <a:buChar char="o"/>
            </a:pPr>
            <a:r>
              <a:rPr lang="en-GB" sz="2000" spc="-1" dirty="0">
                <a:solidFill>
                  <a:srgbClr val="000000"/>
                </a:solidFill>
                <a:latin typeface="Calibri"/>
                <a:ea typeface="Calibri"/>
              </a:rPr>
              <a:t> Unpaired 2-group t-test</a:t>
            </a:r>
            <a:endParaRPr lang="en-GB" sz="2000" spc="-1" dirty="0">
              <a:latin typeface="Arial"/>
            </a:endParaRPr>
          </a:p>
          <a:p>
            <a:pPr>
              <a:spcBef>
                <a:spcPts val="400"/>
              </a:spcBef>
              <a:tabLst>
                <a:tab pos="0" algn="l"/>
              </a:tabLst>
            </a:pPr>
            <a:r>
              <a:rPr lang="en-GB" sz="2000" spc="-1" dirty="0" err="1">
                <a:solidFill>
                  <a:srgbClr val="000000"/>
                </a:solidFill>
                <a:latin typeface="Courier New"/>
                <a:ea typeface="Calibri"/>
              </a:rPr>
              <a:t>t.test</a:t>
            </a:r>
            <a:r>
              <a:rPr lang="en-GB" sz="2000" spc="-1" dirty="0">
                <a:solidFill>
                  <a:srgbClr val="000000"/>
                </a:solidFill>
                <a:latin typeface="Courier New"/>
                <a:ea typeface="Calibri"/>
              </a:rPr>
              <a:t>(</a:t>
            </a:r>
            <a:r>
              <a:rPr lang="en-GB" sz="2000" spc="-1" dirty="0" err="1">
                <a:solidFill>
                  <a:srgbClr val="000000"/>
                </a:solidFill>
                <a:latin typeface="Courier New"/>
                <a:ea typeface="Calibri"/>
              </a:rPr>
              <a:t>y~x</a:t>
            </a:r>
            <a:r>
              <a:rPr lang="en-GB" sz="2000" spc="-1" dirty="0">
                <a:solidFill>
                  <a:srgbClr val="000000"/>
                </a:solidFill>
                <a:latin typeface="Courier New"/>
                <a:ea typeface="Calibri"/>
              </a:rPr>
              <a:t>) </a:t>
            </a:r>
            <a:r>
              <a:rPr lang="en-GB" sz="2000" spc="-1" dirty="0">
                <a:solidFill>
                  <a:srgbClr val="000000"/>
                </a:solidFill>
                <a:latin typeface="Calibri"/>
                <a:ea typeface="Calibri"/>
              </a:rPr>
              <a:t># where y is numeric and x is a binary factor</a:t>
            </a:r>
            <a:endParaRPr lang="en-GB" sz="2000" spc="-1" dirty="0">
              <a:latin typeface="Arial"/>
            </a:endParaRPr>
          </a:p>
          <a:p>
            <a:pPr>
              <a:spcBef>
                <a:spcPts val="400"/>
              </a:spcBef>
              <a:tabLst>
                <a:tab pos="0" algn="l"/>
              </a:tabLst>
            </a:pPr>
            <a:r>
              <a:rPr lang="en-GB" sz="2000" spc="-1" dirty="0" err="1">
                <a:solidFill>
                  <a:srgbClr val="000000"/>
                </a:solidFill>
                <a:latin typeface="Courier New"/>
                <a:ea typeface="Calibri"/>
              </a:rPr>
              <a:t>t.test</a:t>
            </a:r>
            <a:r>
              <a:rPr lang="en-GB" sz="2000" spc="-1" dirty="0">
                <a:solidFill>
                  <a:srgbClr val="000000"/>
                </a:solidFill>
                <a:latin typeface="Courier New"/>
                <a:ea typeface="Calibri"/>
              </a:rPr>
              <a:t>(y1,y2)</a:t>
            </a:r>
            <a:r>
              <a:rPr lang="en-GB" sz="2000" spc="-1" dirty="0">
                <a:solidFill>
                  <a:srgbClr val="000000"/>
                </a:solidFill>
                <a:latin typeface="Calibri"/>
                <a:ea typeface="Calibri"/>
              </a:rPr>
              <a:t> # where y1 and y2 are numeric</a:t>
            </a:r>
            <a:endParaRPr lang="en-GB" sz="2000" spc="-1" dirty="0">
              <a:latin typeface="Arial"/>
            </a:endParaRPr>
          </a:p>
          <a:p>
            <a:pPr marL="343080" indent="-342000">
              <a:spcBef>
                <a:spcPts val="400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GB" sz="2000" spc="-1" dirty="0">
                <a:solidFill>
                  <a:srgbClr val="000000"/>
                </a:solidFill>
                <a:latin typeface="Calibri"/>
                <a:ea typeface="Calibri"/>
              </a:rPr>
              <a:t>Paired 2-group t-test</a:t>
            </a:r>
            <a:endParaRPr lang="en-GB" sz="2000" spc="-1" dirty="0">
              <a:latin typeface="Arial"/>
            </a:endParaRPr>
          </a:p>
          <a:p>
            <a:pPr>
              <a:spcBef>
                <a:spcPts val="400"/>
              </a:spcBef>
              <a:tabLst>
                <a:tab pos="0" algn="l"/>
              </a:tabLst>
            </a:pPr>
            <a:r>
              <a:rPr lang="en-GB" sz="2000" spc="-1" dirty="0" err="1">
                <a:solidFill>
                  <a:srgbClr val="000000"/>
                </a:solidFill>
                <a:latin typeface="Courier New"/>
                <a:ea typeface="Calibri"/>
              </a:rPr>
              <a:t>t.test</a:t>
            </a:r>
            <a:r>
              <a:rPr lang="en-GB" sz="2000" spc="-1" dirty="0">
                <a:solidFill>
                  <a:srgbClr val="000000"/>
                </a:solidFill>
                <a:latin typeface="Courier New"/>
                <a:ea typeface="Calibri"/>
              </a:rPr>
              <a:t>(y1,y2, paired=TRUE)</a:t>
            </a:r>
            <a:r>
              <a:rPr lang="en-GB" sz="2000" spc="-1" dirty="0">
                <a:solidFill>
                  <a:srgbClr val="000000"/>
                </a:solidFill>
                <a:latin typeface="Calibri"/>
                <a:ea typeface="Calibri"/>
              </a:rPr>
              <a:t> # where y1 &amp; y2 are numeric</a:t>
            </a:r>
            <a:endParaRPr lang="en-GB" sz="2000" spc="-1" dirty="0">
              <a:latin typeface="Arial"/>
            </a:endParaRPr>
          </a:p>
          <a:p>
            <a:pPr marL="343080" indent="-342000">
              <a:spcBef>
                <a:spcPts val="40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000" spc="-1" dirty="0">
                <a:solidFill>
                  <a:srgbClr val="000000"/>
                </a:solidFill>
                <a:latin typeface="Calibri"/>
                <a:ea typeface="Calibri"/>
              </a:rPr>
              <a:t>Non-parametric tests:</a:t>
            </a:r>
            <a:endParaRPr lang="en-GB" sz="2000" spc="-1" dirty="0">
              <a:latin typeface="Arial"/>
            </a:endParaRPr>
          </a:p>
          <a:p>
            <a:pPr marL="343080" indent="-342000">
              <a:spcBef>
                <a:spcPts val="400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GB" sz="2000" spc="-1" dirty="0">
                <a:solidFill>
                  <a:srgbClr val="000000"/>
                </a:solidFill>
                <a:latin typeface="Calibri"/>
                <a:ea typeface="Calibri"/>
              </a:rPr>
              <a:t>Unpaired 2-group Mann-Whitney U Test </a:t>
            </a:r>
            <a:endParaRPr lang="en-GB" sz="2000" spc="-1" dirty="0">
              <a:latin typeface="Arial"/>
            </a:endParaRPr>
          </a:p>
          <a:p>
            <a:pPr>
              <a:spcBef>
                <a:spcPts val="400"/>
              </a:spcBef>
              <a:tabLst>
                <a:tab pos="0" algn="l"/>
              </a:tabLst>
            </a:pPr>
            <a:r>
              <a:rPr lang="en-GB" sz="2000" spc="-1" dirty="0" err="1">
                <a:solidFill>
                  <a:srgbClr val="000000"/>
                </a:solidFill>
                <a:latin typeface="Courier New"/>
                <a:ea typeface="Calibri"/>
              </a:rPr>
              <a:t>wilcox.test</a:t>
            </a:r>
            <a:r>
              <a:rPr lang="en-GB" sz="2000" spc="-1" dirty="0">
                <a:solidFill>
                  <a:srgbClr val="000000"/>
                </a:solidFill>
                <a:latin typeface="Courier New"/>
                <a:ea typeface="Calibri"/>
              </a:rPr>
              <a:t>(</a:t>
            </a:r>
            <a:r>
              <a:rPr lang="en-GB" sz="2000" spc="-1" dirty="0" err="1">
                <a:solidFill>
                  <a:srgbClr val="000000"/>
                </a:solidFill>
                <a:latin typeface="Courier New"/>
                <a:ea typeface="Calibri"/>
              </a:rPr>
              <a:t>y~A</a:t>
            </a:r>
            <a:r>
              <a:rPr lang="en-GB" sz="2000" spc="-1" dirty="0">
                <a:solidFill>
                  <a:srgbClr val="000000"/>
                </a:solidFill>
                <a:latin typeface="Courier New"/>
                <a:ea typeface="Calibri"/>
              </a:rPr>
              <a:t>) </a:t>
            </a:r>
            <a:r>
              <a:rPr lang="en-GB" sz="2000" spc="-1" dirty="0">
                <a:solidFill>
                  <a:srgbClr val="000000"/>
                </a:solidFill>
                <a:latin typeface="Calibri"/>
                <a:ea typeface="Calibri"/>
              </a:rPr>
              <a:t># where y is numeric and A is A binary factor</a:t>
            </a:r>
            <a:endParaRPr lang="en-GB" sz="2000" spc="-1" dirty="0">
              <a:latin typeface="Arial"/>
            </a:endParaRPr>
          </a:p>
          <a:p>
            <a:pPr>
              <a:spcBef>
                <a:spcPts val="400"/>
              </a:spcBef>
              <a:tabLst>
                <a:tab pos="0" algn="l"/>
              </a:tabLst>
            </a:pPr>
            <a:r>
              <a:rPr lang="en-GB" sz="2000" spc="-1" dirty="0" err="1">
                <a:solidFill>
                  <a:srgbClr val="000000"/>
                </a:solidFill>
                <a:latin typeface="Courier New"/>
                <a:ea typeface="Calibri"/>
              </a:rPr>
              <a:t>wilcox.test</a:t>
            </a:r>
            <a:r>
              <a:rPr lang="en-GB" sz="2000" spc="-1" dirty="0">
                <a:solidFill>
                  <a:srgbClr val="000000"/>
                </a:solidFill>
                <a:latin typeface="Courier New"/>
                <a:ea typeface="Calibri"/>
              </a:rPr>
              <a:t>(</a:t>
            </a:r>
            <a:r>
              <a:rPr lang="en-GB" sz="2000" spc="-1" dirty="0" err="1">
                <a:solidFill>
                  <a:srgbClr val="000000"/>
                </a:solidFill>
                <a:latin typeface="Courier New"/>
                <a:ea typeface="Calibri"/>
              </a:rPr>
              <a:t>y,x</a:t>
            </a:r>
            <a:r>
              <a:rPr lang="en-GB" sz="2000" spc="-1" dirty="0">
                <a:solidFill>
                  <a:srgbClr val="000000"/>
                </a:solidFill>
                <a:latin typeface="Courier New"/>
                <a:ea typeface="Calibri"/>
              </a:rPr>
              <a:t>)</a:t>
            </a:r>
            <a:r>
              <a:rPr lang="en-GB" sz="2000" spc="-1" dirty="0">
                <a:solidFill>
                  <a:srgbClr val="000000"/>
                </a:solidFill>
                <a:latin typeface="Calibri"/>
                <a:ea typeface="Calibri"/>
              </a:rPr>
              <a:t> # where y and x are numeric</a:t>
            </a:r>
            <a:endParaRPr lang="en-GB" sz="2000" spc="-1" dirty="0">
              <a:latin typeface="Arial"/>
            </a:endParaRPr>
          </a:p>
          <a:p>
            <a:pPr marL="343080" indent="-342000">
              <a:spcBef>
                <a:spcPts val="400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GB" sz="2000" spc="-1" dirty="0">
                <a:solidFill>
                  <a:srgbClr val="000000"/>
                </a:solidFill>
                <a:latin typeface="Calibri"/>
                <a:ea typeface="Calibri"/>
              </a:rPr>
              <a:t>Paired 2-group Wilcoxon Signed Rank Test</a:t>
            </a:r>
            <a:endParaRPr lang="en-GB" sz="2000" spc="-1" dirty="0">
              <a:latin typeface="Arial"/>
            </a:endParaRPr>
          </a:p>
          <a:p>
            <a:pPr>
              <a:spcBef>
                <a:spcPts val="400"/>
              </a:spcBef>
              <a:tabLst>
                <a:tab pos="0" algn="l"/>
              </a:tabLst>
            </a:pPr>
            <a:r>
              <a:rPr lang="en-GB" sz="2000" spc="-1" dirty="0" err="1">
                <a:solidFill>
                  <a:srgbClr val="000000"/>
                </a:solidFill>
                <a:latin typeface="Courier New"/>
                <a:ea typeface="Calibri"/>
              </a:rPr>
              <a:t>wilcox.test</a:t>
            </a:r>
            <a:r>
              <a:rPr lang="en-GB" sz="2000" spc="-1" dirty="0">
                <a:solidFill>
                  <a:srgbClr val="000000"/>
                </a:solidFill>
                <a:latin typeface="Courier New"/>
                <a:ea typeface="Calibri"/>
              </a:rPr>
              <a:t>(y1,y2, paired=TRUE) </a:t>
            </a:r>
            <a:r>
              <a:rPr lang="en-GB" sz="2000" spc="-1" dirty="0">
                <a:solidFill>
                  <a:srgbClr val="000000"/>
                </a:solidFill>
                <a:latin typeface="Calibri"/>
                <a:ea typeface="Calibri"/>
              </a:rPr>
              <a:t># where y1 and y2 are numeric</a:t>
            </a:r>
            <a:endParaRPr lang="en-GB" sz="2000" spc="-1" dirty="0">
              <a:latin typeface="Arial"/>
            </a:endParaRPr>
          </a:p>
          <a:p>
            <a:pPr marL="343080" indent="-342000">
              <a:spcBef>
                <a:spcPts val="40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000" spc="-1" dirty="0">
                <a:solidFill>
                  <a:srgbClr val="000000"/>
                </a:solidFill>
                <a:latin typeface="Calibri"/>
                <a:ea typeface="Calibri"/>
              </a:rPr>
              <a:t>More than 2 groups - analysis of variance (ANOVA, parametric)</a:t>
            </a:r>
            <a:endParaRPr lang="en-GB" sz="2000" spc="-1" dirty="0">
              <a:latin typeface="Arial"/>
            </a:endParaRPr>
          </a:p>
          <a:p>
            <a:pPr>
              <a:spcBef>
                <a:spcPts val="400"/>
              </a:spcBef>
              <a:tabLst>
                <a:tab pos="0" algn="l"/>
              </a:tabLst>
            </a:pPr>
            <a:r>
              <a:rPr lang="en-GB" sz="2000" spc="-1" dirty="0" err="1">
                <a:solidFill>
                  <a:srgbClr val="000000"/>
                </a:solidFill>
                <a:latin typeface="Courier New"/>
                <a:ea typeface="Calibri"/>
              </a:rPr>
              <a:t>aov</a:t>
            </a:r>
            <a:r>
              <a:rPr lang="en-GB" sz="2000" spc="-1" dirty="0">
                <a:solidFill>
                  <a:srgbClr val="000000"/>
                </a:solidFill>
                <a:latin typeface="Courier New"/>
                <a:ea typeface="Calibri"/>
              </a:rPr>
              <a:t>(), </a:t>
            </a:r>
            <a:r>
              <a:rPr lang="en-GB" sz="2000" spc="-1" dirty="0" err="1">
                <a:solidFill>
                  <a:srgbClr val="000000"/>
                </a:solidFill>
                <a:latin typeface="Courier New"/>
                <a:ea typeface="Calibri"/>
              </a:rPr>
              <a:t>anova</a:t>
            </a:r>
            <a:r>
              <a:rPr lang="en-GB" sz="2000" spc="-1" dirty="0">
                <a:solidFill>
                  <a:srgbClr val="000000"/>
                </a:solidFill>
                <a:latin typeface="Courier New"/>
                <a:ea typeface="Calibri"/>
              </a:rPr>
              <a:t>()</a:t>
            </a:r>
            <a:endParaRPr lang="en-GB" sz="2000" spc="-1" dirty="0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CustomShape 1"/>
          <p:cNvSpPr/>
          <p:nvPr/>
        </p:nvSpPr>
        <p:spPr>
          <a:xfrm>
            <a:off x="1981200" y="274680"/>
            <a:ext cx="8228520" cy="1141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 dirty="0">
                <a:solidFill>
                  <a:srgbClr val="000000"/>
                </a:solidFill>
                <a:latin typeface="Calibri"/>
                <a:ea typeface="DejaVu Sans"/>
              </a:rPr>
              <a:t>Adding statistics to the plots</a:t>
            </a:r>
            <a:endParaRPr lang="en-GB" sz="4400" b="1" spc="-1" dirty="0">
              <a:latin typeface="Arial"/>
            </a:endParaRPr>
          </a:p>
        </p:txBody>
      </p:sp>
      <p:sp>
        <p:nvSpPr>
          <p:cNvPr id="197" name="CustomShape 2"/>
          <p:cNvSpPr/>
          <p:nvPr/>
        </p:nvSpPr>
        <p:spPr>
          <a:xfrm>
            <a:off x="1981200" y="1600200"/>
            <a:ext cx="8228520" cy="45248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 fontScale="92500" lnSpcReduction="10000"/>
          </a:bodyPr>
          <a:lstStyle/>
          <a:p>
            <a:pPr>
              <a:spcBef>
                <a:spcPts val="479"/>
              </a:spcBef>
              <a:tabLst>
                <a:tab pos="0" algn="l"/>
              </a:tabLst>
            </a:pPr>
            <a:r>
              <a:rPr lang="en-GB" sz="2400" spc="-1" dirty="0">
                <a:solidFill>
                  <a:srgbClr val="000000"/>
                </a:solidFill>
                <a:latin typeface="Courier New"/>
                <a:ea typeface="DejaVu Sans"/>
              </a:rPr>
              <a:t>library</a:t>
            </a:r>
            <a:r>
              <a:rPr lang="en-GB" sz="2400" b="1" spc="-1" dirty="0">
                <a:solidFill>
                  <a:srgbClr val="000000"/>
                </a:solidFill>
                <a:latin typeface="Courier New"/>
                <a:ea typeface="DejaVu Sans"/>
              </a:rPr>
              <a:t>(</a:t>
            </a:r>
            <a:r>
              <a:rPr lang="en-GB" sz="2400" b="1" spc="-1" dirty="0" err="1">
                <a:solidFill>
                  <a:srgbClr val="000000"/>
                </a:solidFill>
                <a:latin typeface="Courier New"/>
                <a:ea typeface="Calibri"/>
              </a:rPr>
              <a:t>ggpubr</a:t>
            </a:r>
            <a:r>
              <a:rPr lang="en-GB" sz="2400" b="1" spc="-1" dirty="0">
                <a:solidFill>
                  <a:srgbClr val="000000"/>
                </a:solidFill>
                <a:latin typeface="Courier New"/>
                <a:ea typeface="Calibri"/>
              </a:rPr>
              <a:t>)</a:t>
            </a:r>
            <a:endParaRPr lang="en-GB" sz="2400" spc="-1" dirty="0">
              <a:latin typeface="Arial"/>
            </a:endParaRPr>
          </a:p>
          <a:p>
            <a:pPr marL="343080" indent="-342000"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400" spc="-1" dirty="0">
                <a:solidFill>
                  <a:srgbClr val="000000"/>
                </a:solidFill>
                <a:latin typeface="Calibri"/>
                <a:ea typeface="Calibri"/>
              </a:rPr>
              <a:t>Perform the test</a:t>
            </a:r>
            <a:endParaRPr lang="en-GB" sz="2400" spc="-1" dirty="0">
              <a:latin typeface="Arial"/>
            </a:endParaRPr>
          </a:p>
          <a:p>
            <a:pPr marL="343080" indent="-342000" algn="just">
              <a:spcBef>
                <a:spcPts val="479"/>
              </a:spcBef>
              <a:tabLst>
                <a:tab pos="0" algn="l"/>
              </a:tabLst>
            </a:pPr>
            <a:r>
              <a:rPr lang="en-GB" sz="2400" b="1" spc="-1" dirty="0" err="1">
                <a:solidFill>
                  <a:srgbClr val="000000"/>
                </a:solidFill>
                <a:latin typeface="Courier New"/>
                <a:ea typeface="Calibri"/>
              </a:rPr>
              <a:t>compare_means</a:t>
            </a:r>
            <a:r>
              <a:rPr lang="en-GB" sz="2400" spc="-1" dirty="0">
                <a:solidFill>
                  <a:srgbClr val="000000"/>
                </a:solidFill>
                <a:latin typeface="Courier New"/>
                <a:ea typeface="Calibri"/>
              </a:rPr>
              <a:t>(formula, data, method = "</a:t>
            </a:r>
            <a:r>
              <a:rPr lang="en-GB" sz="2400" spc="-1" dirty="0" err="1">
                <a:solidFill>
                  <a:srgbClr val="000000"/>
                </a:solidFill>
                <a:latin typeface="Courier New"/>
                <a:ea typeface="Calibri"/>
              </a:rPr>
              <a:t>wilcox.test</a:t>
            </a:r>
            <a:r>
              <a:rPr lang="en-GB" sz="2400" spc="-1" dirty="0">
                <a:solidFill>
                  <a:srgbClr val="000000"/>
                </a:solidFill>
                <a:latin typeface="Courier New"/>
                <a:ea typeface="Calibri"/>
              </a:rPr>
              <a:t>", paired = FALSE, </a:t>
            </a:r>
            <a:r>
              <a:rPr lang="en-GB" sz="2400" spc="-1" dirty="0" err="1">
                <a:solidFill>
                  <a:srgbClr val="000000"/>
                </a:solidFill>
                <a:latin typeface="Courier New"/>
                <a:ea typeface="Calibri"/>
              </a:rPr>
              <a:t>group.by</a:t>
            </a:r>
            <a:r>
              <a:rPr lang="en-GB" sz="2400" spc="-1" dirty="0">
                <a:solidFill>
                  <a:srgbClr val="000000"/>
                </a:solidFill>
                <a:latin typeface="Courier New"/>
                <a:ea typeface="Calibri"/>
              </a:rPr>
              <a:t> = NULL, </a:t>
            </a:r>
            <a:r>
              <a:rPr lang="en-GB" sz="2400" spc="-1" dirty="0" err="1">
                <a:solidFill>
                  <a:srgbClr val="000000"/>
                </a:solidFill>
                <a:latin typeface="Courier New"/>
                <a:ea typeface="Calibri"/>
              </a:rPr>
              <a:t>ref.group</a:t>
            </a:r>
            <a:r>
              <a:rPr lang="en-GB" sz="2400" spc="-1" dirty="0">
                <a:solidFill>
                  <a:srgbClr val="000000"/>
                </a:solidFill>
                <a:latin typeface="Courier New"/>
                <a:ea typeface="Calibri"/>
              </a:rPr>
              <a:t> = NULL, </a:t>
            </a:r>
            <a:r>
              <a:rPr lang="en-GB" sz="2400" b="1" spc="-1" dirty="0">
                <a:solidFill>
                  <a:srgbClr val="000000"/>
                </a:solidFill>
                <a:latin typeface="Courier New"/>
                <a:ea typeface="Calibri"/>
              </a:rPr>
              <a:t>...</a:t>
            </a:r>
            <a:r>
              <a:rPr lang="en-GB" sz="2400" spc="-1" dirty="0">
                <a:solidFill>
                  <a:srgbClr val="000000"/>
                </a:solidFill>
                <a:latin typeface="Courier New"/>
                <a:ea typeface="Calibri"/>
              </a:rPr>
              <a:t>)</a:t>
            </a:r>
            <a:endParaRPr lang="en-GB" sz="2400" spc="-1" dirty="0">
              <a:latin typeface="Arial"/>
            </a:endParaRPr>
          </a:p>
          <a:p>
            <a:pPr marL="343080" indent="-342000">
              <a:spcBef>
                <a:spcPts val="479"/>
              </a:spcBef>
              <a:tabLst>
                <a:tab pos="0" algn="l"/>
              </a:tabLst>
            </a:pPr>
            <a:r>
              <a:rPr lang="en-GB" sz="2400" spc="-1" dirty="0">
                <a:solidFill>
                  <a:srgbClr val="000000"/>
                </a:solidFill>
                <a:latin typeface="Calibri"/>
                <a:ea typeface="Calibri"/>
              </a:rPr>
              <a:t>*method = "</a:t>
            </a:r>
            <a:r>
              <a:rPr lang="en-GB" sz="2400" spc="-1" dirty="0" err="1">
                <a:solidFill>
                  <a:srgbClr val="000000"/>
                </a:solidFill>
                <a:latin typeface="Calibri"/>
                <a:ea typeface="Calibri"/>
              </a:rPr>
              <a:t>t.test</a:t>
            </a:r>
            <a:r>
              <a:rPr lang="en-GB" sz="2400" spc="-1" dirty="0">
                <a:solidFill>
                  <a:srgbClr val="000000"/>
                </a:solidFill>
                <a:latin typeface="Calibri"/>
                <a:ea typeface="Calibri"/>
              </a:rPr>
              <a:t>", "</a:t>
            </a:r>
            <a:r>
              <a:rPr lang="en-GB" sz="2400" spc="-1" dirty="0" err="1">
                <a:solidFill>
                  <a:srgbClr val="000000"/>
                </a:solidFill>
                <a:latin typeface="Calibri"/>
                <a:ea typeface="Calibri"/>
              </a:rPr>
              <a:t>anova</a:t>
            </a:r>
            <a:r>
              <a:rPr lang="en-GB" sz="2400" spc="-1" dirty="0">
                <a:solidFill>
                  <a:srgbClr val="000000"/>
                </a:solidFill>
                <a:latin typeface="Calibri"/>
                <a:ea typeface="Calibri"/>
              </a:rPr>
              <a:t>"</a:t>
            </a:r>
            <a:endParaRPr lang="en-GB" sz="2400" spc="-1" dirty="0">
              <a:latin typeface="Arial"/>
            </a:endParaRPr>
          </a:p>
          <a:p>
            <a:pPr marL="343080" indent="-342000"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400" spc="-1" dirty="0">
                <a:solidFill>
                  <a:srgbClr val="000000"/>
                </a:solidFill>
                <a:latin typeface="Calibri"/>
                <a:ea typeface="Calibri"/>
              </a:rPr>
              <a:t>Or just add the significance levels to the plot</a:t>
            </a:r>
            <a:endParaRPr lang="en-GB" sz="2400" spc="-1" dirty="0">
              <a:latin typeface="Arial"/>
            </a:endParaRPr>
          </a:p>
          <a:p>
            <a:pPr>
              <a:spcBef>
                <a:spcPts val="479"/>
              </a:spcBef>
              <a:tabLst>
                <a:tab pos="0" algn="l"/>
              </a:tabLst>
            </a:pPr>
            <a:r>
              <a:rPr lang="en-GB" sz="2400" b="1" spc="-1" dirty="0" err="1">
                <a:solidFill>
                  <a:srgbClr val="000000"/>
                </a:solidFill>
                <a:latin typeface="Courier New"/>
                <a:ea typeface="Calibri"/>
              </a:rPr>
              <a:t>stat_compare_means</a:t>
            </a:r>
            <a:r>
              <a:rPr lang="en-GB" sz="2400" spc="-1" dirty="0">
                <a:solidFill>
                  <a:srgbClr val="000000"/>
                </a:solidFill>
                <a:latin typeface="Courier New"/>
                <a:ea typeface="Calibri"/>
              </a:rPr>
              <a:t>(mapping = NULL, comparisons = NULL, </a:t>
            </a:r>
            <a:r>
              <a:rPr lang="en-GB" sz="2400" spc="-1" dirty="0" err="1">
                <a:solidFill>
                  <a:srgbClr val="000000"/>
                </a:solidFill>
                <a:latin typeface="Courier New"/>
                <a:ea typeface="Calibri"/>
              </a:rPr>
              <a:t>hide.ns</a:t>
            </a:r>
            <a:r>
              <a:rPr lang="en-GB" sz="2400" spc="-1" dirty="0">
                <a:solidFill>
                  <a:srgbClr val="000000"/>
                </a:solidFill>
                <a:latin typeface="Courier New"/>
                <a:ea typeface="Calibri"/>
              </a:rPr>
              <a:t> = FALSE, label = NULL, </a:t>
            </a:r>
            <a:r>
              <a:rPr lang="en-GB" sz="2400" spc="-1" dirty="0" err="1">
                <a:solidFill>
                  <a:srgbClr val="000000"/>
                </a:solidFill>
                <a:latin typeface="Courier New"/>
                <a:ea typeface="Calibri"/>
              </a:rPr>
              <a:t>label.x</a:t>
            </a:r>
            <a:r>
              <a:rPr lang="en-GB" sz="2400" spc="-1" dirty="0">
                <a:solidFill>
                  <a:srgbClr val="000000"/>
                </a:solidFill>
                <a:latin typeface="Courier New"/>
                <a:ea typeface="Calibri"/>
              </a:rPr>
              <a:t> = NULL, </a:t>
            </a:r>
            <a:r>
              <a:rPr lang="en-GB" sz="2400" spc="-1" dirty="0" err="1">
                <a:solidFill>
                  <a:srgbClr val="000000"/>
                </a:solidFill>
                <a:latin typeface="Courier New"/>
                <a:ea typeface="Calibri"/>
              </a:rPr>
              <a:t>label.y</a:t>
            </a:r>
            <a:r>
              <a:rPr lang="en-GB" sz="2400" spc="-1" dirty="0">
                <a:solidFill>
                  <a:srgbClr val="000000"/>
                </a:solidFill>
                <a:latin typeface="Courier New"/>
                <a:ea typeface="Calibri"/>
              </a:rPr>
              <a:t> = NULL, </a:t>
            </a:r>
            <a:r>
              <a:rPr lang="en-GB" sz="2400" b="1" spc="-1" dirty="0">
                <a:solidFill>
                  <a:srgbClr val="000000"/>
                </a:solidFill>
                <a:latin typeface="Courier New"/>
                <a:ea typeface="Calibri"/>
              </a:rPr>
              <a:t>...</a:t>
            </a:r>
            <a:r>
              <a:rPr lang="en-GB" sz="2400" spc="-1" dirty="0">
                <a:solidFill>
                  <a:srgbClr val="000000"/>
                </a:solidFill>
                <a:latin typeface="Courier New"/>
                <a:ea typeface="Calibri"/>
              </a:rPr>
              <a:t>)</a:t>
            </a:r>
            <a:endParaRPr lang="en-GB" sz="2400" spc="-1" dirty="0">
              <a:latin typeface="Arial"/>
            </a:endParaRPr>
          </a:p>
          <a:p>
            <a:pPr marL="342900" indent="-342900">
              <a:spcBef>
                <a:spcPts val="641"/>
              </a:spcBef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GB" sz="2400" spc="-1" dirty="0">
                <a:latin typeface="Arial"/>
              </a:rPr>
              <a:t>If adjusted p-values are required</a:t>
            </a:r>
          </a:p>
          <a:p>
            <a:pPr>
              <a:spcBef>
                <a:spcPts val="641"/>
              </a:spcBef>
              <a:tabLst>
                <a:tab pos="0" algn="l"/>
              </a:tabLst>
            </a:pPr>
            <a:r>
              <a:rPr lang="en-GB" sz="2400" b="1" spc="-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stat_pvalue_manual</a:t>
            </a:r>
            <a:r>
              <a:rPr lang="en-GB" sz="2400" spc="-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sz="2400" spc="-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stat.test</a:t>
            </a:r>
            <a:r>
              <a:rPr lang="en-GB" sz="2400" spc="-1" dirty="0">
                <a:latin typeface="Courier New" panose="02070309020205020404" pitchFamily="49" charset="0"/>
                <a:cs typeface="Courier New" panose="02070309020205020404" pitchFamily="49" charset="0"/>
              </a:rPr>
              <a:t>, label = "</a:t>
            </a:r>
            <a:r>
              <a:rPr lang="en-GB" sz="2400" spc="-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p.adj.signif</a:t>
            </a:r>
            <a:r>
              <a:rPr lang="en-GB" sz="2400" spc="-1" dirty="0">
                <a:latin typeface="Courier New" panose="02070309020205020404" pitchFamily="49" charset="0"/>
                <a:cs typeface="Courier New" panose="02070309020205020404" pitchFamily="49" charset="0"/>
              </a:rPr>
              <a:t>”, </a:t>
            </a:r>
            <a:r>
              <a:rPr lang="en-GB" sz="2400" spc="-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hide.ns</a:t>
            </a:r>
            <a:r>
              <a:rPr lang="en-GB" sz="2400" spc="-1" dirty="0">
                <a:latin typeface="Courier New" panose="02070309020205020404" pitchFamily="49" charset="0"/>
                <a:cs typeface="Courier New" panose="02070309020205020404" pitchFamily="49" charset="0"/>
              </a:rPr>
              <a:t> = TRUE, ...)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AF7D8-062C-D5F7-0987-5F8A07E91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CustomShape 1">
            <a:extLst>
              <a:ext uri="{FF2B5EF4-FFF2-40B4-BE49-F238E27FC236}">
                <a16:creationId xmlns:a16="http://schemas.microsoft.com/office/drawing/2014/main" id="{42BD4FAC-662F-7E5A-D96C-3BA33EDB0862}"/>
              </a:ext>
            </a:extLst>
          </p:cNvPr>
          <p:cNvSpPr/>
          <p:nvPr/>
        </p:nvSpPr>
        <p:spPr>
          <a:xfrm>
            <a:off x="1524000" y="0"/>
            <a:ext cx="8435248" cy="57508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79" name="CustomShape 2">
            <a:extLst>
              <a:ext uri="{FF2B5EF4-FFF2-40B4-BE49-F238E27FC236}">
                <a16:creationId xmlns:a16="http://schemas.microsoft.com/office/drawing/2014/main" id="{17E2D102-E2F1-0129-F42D-532A280580F9}"/>
              </a:ext>
            </a:extLst>
          </p:cNvPr>
          <p:cNvSpPr/>
          <p:nvPr/>
        </p:nvSpPr>
        <p:spPr>
          <a:xfrm>
            <a:off x="2436960" y="2222640"/>
            <a:ext cx="3518640" cy="2411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>
              <a:lnSpc>
                <a:spcPct val="9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5400" b="1" spc="-1" dirty="0">
                <a:solidFill>
                  <a:schemeClr val="tx2"/>
                </a:solidFill>
                <a:ea typeface="DejaVu Sans"/>
              </a:rPr>
              <a:t>Let’s explore practically</a:t>
            </a:r>
            <a:endParaRPr lang="en-GB" sz="5400" spc="-1" dirty="0">
              <a:solidFill>
                <a:schemeClr val="tx2"/>
              </a:solidFill>
            </a:endParaRPr>
          </a:p>
          <a:p>
            <a:pPr>
              <a:lnSpc>
                <a:spcPct val="90000"/>
              </a:lnSpc>
              <a:spcAft>
                <a:spcPts val="601"/>
              </a:spcAft>
              <a:tabLst>
                <a:tab pos="0" algn="l"/>
              </a:tabLst>
            </a:pPr>
            <a:endParaRPr lang="en-GB" sz="5400" spc="-1" dirty="0">
              <a:solidFill>
                <a:schemeClr val="tx2"/>
              </a:solidFill>
            </a:endParaRPr>
          </a:p>
        </p:txBody>
      </p:sp>
      <p:sp>
        <p:nvSpPr>
          <p:cNvPr id="380" name="CustomShape 3">
            <a:extLst>
              <a:ext uri="{FF2B5EF4-FFF2-40B4-BE49-F238E27FC236}">
                <a16:creationId xmlns:a16="http://schemas.microsoft.com/office/drawing/2014/main" id="{86A8C77C-A7A9-E005-11DC-48A744E2D86B}"/>
              </a:ext>
            </a:extLst>
          </p:cNvPr>
          <p:cNvSpPr/>
          <p:nvPr/>
        </p:nvSpPr>
        <p:spPr>
          <a:xfrm>
            <a:off x="5656800" y="851400"/>
            <a:ext cx="4637520" cy="5153760"/>
          </a:xfrm>
          <a:custGeom>
            <a:avLst/>
            <a:gdLst/>
            <a:ahLst/>
            <a:cxnLst/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1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4"/>
                  <a:pt x="2445216" y="109244"/>
                </a:cubicBezTo>
                <a:cubicBezTo>
                  <a:pt x="1625714" y="109244"/>
                  <a:pt x="1625714" y="109244"/>
                  <a:pt x="1625714" y="109244"/>
                </a:cubicBezTo>
                <a:cubicBezTo>
                  <a:pt x="1572615" y="109244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8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1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381" name="Graphic 5" descr="Cmd Terminal outline">
            <a:extLst>
              <a:ext uri="{FF2B5EF4-FFF2-40B4-BE49-F238E27FC236}">
                <a16:creationId xmlns:a16="http://schemas.microsoft.com/office/drawing/2014/main" id="{6D21C3E6-15C4-BC7B-096D-FAA533CB3B75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008960" y="2341080"/>
            <a:ext cx="2745360" cy="274536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90850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CustomShape 1"/>
          <p:cNvSpPr/>
          <p:nvPr/>
        </p:nvSpPr>
        <p:spPr>
          <a:xfrm>
            <a:off x="1981200" y="684000"/>
            <a:ext cx="8227800" cy="11437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3200" b="1" spc="-1" dirty="0">
                <a:solidFill>
                  <a:schemeClr val="tx2"/>
                </a:solidFill>
                <a:latin typeface="+mj-lt"/>
                <a:ea typeface="DejaVu Sans"/>
              </a:rPr>
              <a:t>Useful references</a:t>
            </a:r>
            <a:endParaRPr lang="en-GB" sz="3200" spc="-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389" name="CustomShape 2"/>
          <p:cNvSpPr/>
          <p:nvPr/>
        </p:nvSpPr>
        <p:spPr>
          <a:xfrm>
            <a:off x="1981200" y="2034720"/>
            <a:ext cx="8227800" cy="42498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 marL="343080" indent="-342000"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u="sng" spc="-1" dirty="0">
                <a:solidFill>
                  <a:srgbClr val="0000FF"/>
                </a:solidFill>
                <a:ea typeface="DejaVu Sans"/>
                <a:hlinkClick r:id="rId2"/>
              </a:rPr>
              <a:t>R Programming for Data Science (Roger Peng)</a:t>
            </a:r>
            <a:r>
              <a:rPr lang="en-GB" sz="2180" spc="-1" dirty="0">
                <a:solidFill>
                  <a:srgbClr val="000000"/>
                </a:solidFill>
                <a:ea typeface="DejaVu Sans"/>
              </a:rPr>
              <a:t> – Ch. 3, 4, 5, 9</a:t>
            </a:r>
            <a:endParaRPr lang="en-GB" sz="2180" spc="-1" dirty="0"/>
          </a:p>
          <a:p>
            <a:pPr marL="343080" indent="-342000"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u="sng" spc="-1" dirty="0">
                <a:solidFill>
                  <a:srgbClr val="0000FF"/>
                </a:solidFill>
                <a:ea typeface="DejaVu Sans"/>
                <a:hlinkClick r:id="rId3"/>
              </a:rPr>
              <a:t>Swirl</a:t>
            </a:r>
            <a:r>
              <a:rPr lang="en-GB" sz="2180" spc="-1" dirty="0">
                <a:solidFill>
                  <a:srgbClr val="000000"/>
                </a:solidFill>
                <a:ea typeface="DejaVu Sans"/>
              </a:rPr>
              <a:t> – Interactive learning</a:t>
            </a:r>
            <a:endParaRPr lang="en-GB" sz="2180" spc="-1" dirty="0"/>
          </a:p>
          <a:p>
            <a:pPr marL="343080" indent="-342000"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u="sng" spc="-1" dirty="0">
                <a:solidFill>
                  <a:srgbClr val="0000FF"/>
                </a:solidFill>
                <a:ea typeface="DejaVu Sans"/>
                <a:hlinkClick r:id="rId4"/>
              </a:rPr>
              <a:t>R for Data Science (Hadley Wickham)</a:t>
            </a:r>
            <a:r>
              <a:rPr lang="en-GB" sz="2180" spc="-1" dirty="0">
                <a:solidFill>
                  <a:srgbClr val="000000"/>
                </a:solidFill>
                <a:ea typeface="DejaVu Sans"/>
              </a:rPr>
              <a:t> – Using </a:t>
            </a:r>
            <a:r>
              <a:rPr lang="en-GB" sz="2180" spc="-1" dirty="0" err="1">
                <a:solidFill>
                  <a:srgbClr val="000000"/>
                </a:solidFill>
                <a:ea typeface="DejaVu Sans"/>
              </a:rPr>
              <a:t>Dplyr</a:t>
            </a:r>
            <a:r>
              <a:rPr lang="en-GB" sz="2180" spc="-1" dirty="0">
                <a:solidFill>
                  <a:srgbClr val="000000"/>
                </a:solidFill>
                <a:ea typeface="DejaVu Sans"/>
              </a:rPr>
              <a:t> verbs</a:t>
            </a:r>
            <a:endParaRPr lang="en-GB" sz="2180" spc="-1" dirty="0"/>
          </a:p>
          <a:p>
            <a:pPr marL="343080" indent="-342000">
              <a:spcBef>
                <a:spcPts val="43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50" u="sng" spc="-1" dirty="0">
                <a:solidFill>
                  <a:srgbClr val="0000FF"/>
                </a:solidFill>
                <a:ea typeface="DejaVu Sans"/>
                <a:hlinkClick r:id="rId5"/>
              </a:rPr>
              <a:t>The data.table package</a:t>
            </a:r>
            <a:r>
              <a:rPr lang="en-GB" sz="2150" spc="-1" dirty="0">
                <a:solidFill>
                  <a:srgbClr val="000000"/>
                </a:solidFill>
                <a:ea typeface="DejaVu Sans"/>
              </a:rPr>
              <a:t> – Intro</a:t>
            </a:r>
            <a:endParaRPr lang="en-GB" sz="2150" spc="-1" dirty="0"/>
          </a:p>
          <a:p>
            <a:pPr marL="343080" indent="-342000">
              <a:spcBef>
                <a:spcPts val="43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50" u="sng" spc="-1" dirty="0">
                <a:solidFill>
                  <a:srgbClr val="0000FF"/>
                </a:solidFill>
                <a:ea typeface="DejaVu Sans"/>
                <a:hlinkClick r:id="rId6"/>
              </a:rPr>
              <a:t>A data.table and Dplyr tour</a:t>
            </a:r>
            <a:r>
              <a:rPr lang="en-GB" sz="2150" spc="-1" dirty="0">
                <a:solidFill>
                  <a:srgbClr val="000000"/>
                </a:solidFill>
                <a:ea typeface="DejaVu Sans"/>
              </a:rPr>
              <a:t> – Side by side comparison of functions</a:t>
            </a:r>
            <a:endParaRPr lang="en-GB" sz="2150" spc="-1" dirty="0"/>
          </a:p>
          <a:p>
            <a:pPr marL="343080" indent="-342000">
              <a:spcBef>
                <a:spcPts val="43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50" u="sng" spc="-1" dirty="0">
                <a:solidFill>
                  <a:srgbClr val="0000FF"/>
                </a:solidFill>
                <a:ea typeface="DejaVu Sans"/>
                <a:hlinkClick r:id="rId7"/>
              </a:rPr>
              <a:t>Cheatsheets</a:t>
            </a:r>
            <a:r>
              <a:rPr lang="en-GB" sz="2150" spc="-1" dirty="0">
                <a:solidFill>
                  <a:srgbClr val="000000"/>
                </a:solidFill>
                <a:ea typeface="DejaVu Sans"/>
              </a:rPr>
              <a:t> – quick reference for tasks like data wrangling, visualisation, and several packages</a:t>
            </a:r>
            <a:endParaRPr lang="en-GB" sz="2150" spc="-1" dirty="0"/>
          </a:p>
          <a:p>
            <a:pPr marL="150480">
              <a:spcBef>
                <a:spcPts val="437"/>
              </a:spcBef>
              <a:tabLst>
                <a:tab pos="0" algn="l"/>
              </a:tabLst>
            </a:pPr>
            <a:endParaRPr lang="en-GB" sz="2150" spc="-1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CustomShape 2"/>
          <p:cNvSpPr/>
          <p:nvPr/>
        </p:nvSpPr>
        <p:spPr>
          <a:xfrm>
            <a:off x="1981200" y="2034720"/>
            <a:ext cx="8227800" cy="42498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 marL="343080" indent="-342000"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u="sng" spc="-1" dirty="0">
                <a:solidFill>
                  <a:srgbClr val="0000FF"/>
                </a:solidFill>
                <a:latin typeface="Calibri"/>
                <a:ea typeface="DejaVu Sans"/>
                <a:hlinkClick r:id="rId2"/>
              </a:rPr>
              <a:t>https://github.com/EmilHvitfeldt/r-color-palettes</a:t>
            </a:r>
            <a:r>
              <a:rPr lang="en-GB" sz="2180" spc="-1" dirty="0">
                <a:solidFill>
                  <a:srgbClr val="000000"/>
                </a:solidFill>
                <a:latin typeface="Calibri"/>
                <a:ea typeface="DejaVu Sans"/>
              </a:rPr>
              <a:t> - a huge list of R palettes</a:t>
            </a:r>
            <a:endParaRPr lang="en-GB" sz="2180" spc="-1" dirty="0">
              <a:latin typeface="Arial"/>
            </a:endParaRPr>
          </a:p>
          <a:p>
            <a:pPr marL="343080" indent="-342000"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u="sng" spc="-1" dirty="0">
                <a:solidFill>
                  <a:srgbClr val="0000FF"/>
                </a:solidFill>
                <a:latin typeface="Calibri"/>
                <a:ea typeface="DejaVu Sans"/>
                <a:hlinkClick r:id="rId3"/>
              </a:rPr>
              <a:t>https://colorbrewer2.org/</a:t>
            </a:r>
            <a:r>
              <a:rPr lang="en-GB" sz="2180" spc="-1" dirty="0">
                <a:solidFill>
                  <a:srgbClr val="000000"/>
                </a:solidFill>
                <a:latin typeface="Calibri"/>
                <a:ea typeface="DejaVu Sans"/>
              </a:rPr>
              <a:t> - </a:t>
            </a:r>
            <a:r>
              <a:rPr lang="en-GB" sz="2180" spc="-1" dirty="0" err="1">
                <a:solidFill>
                  <a:srgbClr val="000000"/>
                </a:solidFill>
                <a:latin typeface="Calibri"/>
                <a:ea typeface="DejaVu Sans"/>
              </a:rPr>
              <a:t>RColorBrewer</a:t>
            </a:r>
            <a:r>
              <a:rPr lang="en-GB" sz="2180" spc="-1" dirty="0">
                <a:solidFill>
                  <a:srgbClr val="000000"/>
                </a:solidFill>
                <a:latin typeface="Calibri"/>
                <a:ea typeface="DejaVu Sans"/>
              </a:rPr>
              <a:t> package based on this tool by Cynthia Brewer</a:t>
            </a:r>
            <a:endParaRPr lang="en-GB" sz="2180" spc="-1" dirty="0">
              <a:latin typeface="Arial"/>
            </a:endParaRPr>
          </a:p>
          <a:p>
            <a:pPr marL="343080" indent="-342000"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u="sng" spc="-1" dirty="0">
                <a:solidFill>
                  <a:srgbClr val="0000FF"/>
                </a:solidFill>
                <a:latin typeface="Calibri"/>
                <a:ea typeface="DejaVu Sans"/>
                <a:hlinkClick r:id="rId4"/>
              </a:rPr>
              <a:t>https://jokergoo.github.io/ComplexHeatmap-reference/book/</a:t>
            </a:r>
            <a:r>
              <a:rPr lang="en-GB" sz="2180" spc="-1" dirty="0">
                <a:solidFill>
                  <a:srgbClr val="000000"/>
                </a:solidFill>
                <a:latin typeface="Calibri"/>
                <a:ea typeface="DejaVu Sans"/>
              </a:rPr>
              <a:t> - R package to produce Complex Heatmaps</a:t>
            </a:r>
          </a:p>
          <a:p>
            <a:pPr marL="343080" indent="-342000"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spc="-1" dirty="0">
                <a:latin typeface="Arial"/>
                <a:hlinkClick r:id="rId5"/>
              </a:rPr>
              <a:t>https://carriebrown.github.io/r-novice-gapminder/challenges/</a:t>
            </a:r>
            <a:r>
              <a:rPr lang="en-GB" sz="2180" spc="-1" dirty="0">
                <a:solidFill>
                  <a:srgbClr val="000000"/>
                </a:solidFill>
                <a:latin typeface="Calibri"/>
              </a:rPr>
              <a:t> - R challenges</a:t>
            </a:r>
          </a:p>
          <a:p>
            <a:pPr marL="343080" indent="-342000"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spc="-1" dirty="0">
                <a:latin typeface="Arial"/>
                <a:hlinkClick r:id="rId6"/>
              </a:rPr>
              <a:t>https://rosalind.info/problems/locations/</a:t>
            </a:r>
            <a:r>
              <a:rPr lang="en-GB" sz="2180" spc="-1" dirty="0">
                <a:solidFill>
                  <a:srgbClr val="000000"/>
                </a:solidFill>
                <a:latin typeface="Calibri"/>
              </a:rPr>
              <a:t> - biological programming and algorithmic challenges (mainly geared towards python, but can be solved using R </a:t>
            </a:r>
            <a:r>
              <a:rPr lang="en-GB" sz="2180" spc="-1">
                <a:solidFill>
                  <a:srgbClr val="000000"/>
                </a:solidFill>
                <a:latin typeface="Calibri"/>
              </a:rPr>
              <a:t>as well)</a:t>
            </a:r>
            <a:endParaRPr lang="en-GB" sz="2180" spc="-1" dirty="0">
              <a:latin typeface="Arial"/>
            </a:endParaRPr>
          </a:p>
        </p:txBody>
      </p:sp>
      <p:sp>
        <p:nvSpPr>
          <p:cNvPr id="2" name="CustomShape 1">
            <a:extLst>
              <a:ext uri="{FF2B5EF4-FFF2-40B4-BE49-F238E27FC236}">
                <a16:creationId xmlns:a16="http://schemas.microsoft.com/office/drawing/2014/main" id="{6E8A13AE-8789-6470-DDB4-A3CD0A60C230}"/>
              </a:ext>
            </a:extLst>
          </p:cNvPr>
          <p:cNvSpPr/>
          <p:nvPr/>
        </p:nvSpPr>
        <p:spPr>
          <a:xfrm>
            <a:off x="1981200" y="684000"/>
            <a:ext cx="8227800" cy="11437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3200" b="1" spc="-1" dirty="0">
                <a:solidFill>
                  <a:schemeClr val="tx2"/>
                </a:solidFill>
                <a:latin typeface="+mj-lt"/>
                <a:ea typeface="DejaVu Sans"/>
              </a:rPr>
              <a:t>Useful references</a:t>
            </a:r>
            <a:endParaRPr lang="en-GB" sz="3200" spc="-1" dirty="0">
              <a:solidFill>
                <a:schemeClr val="tx2"/>
              </a:solidFill>
              <a:latin typeface="+mj-lt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1648</Words>
  <Application>Microsoft Macintosh PowerPoint</Application>
  <PresentationFormat>Widescreen</PresentationFormat>
  <Paragraphs>162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3" baseType="lpstr">
      <vt:lpstr>Arial</vt:lpstr>
      <vt:lpstr>Bierstadt</vt:lpstr>
      <vt:lpstr>Calibri</vt:lpstr>
      <vt:lpstr>Courier New</vt:lpstr>
      <vt:lpstr>DejaVu Sans</vt:lpstr>
      <vt:lpstr>Montserrat</vt:lpstr>
      <vt:lpstr>Neue Haas Grotesk Text Pro</vt:lpstr>
      <vt:lpstr>Roboto Slab</vt:lpstr>
      <vt:lpstr>StarSymbol</vt:lpstr>
      <vt:lpstr>Wingdings 3</vt:lpstr>
      <vt:lpstr>GestaltVTI</vt:lpstr>
      <vt:lpstr>Data visualisation with ggplot2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Irina Chelysheva</dc:creator>
  <cp:lastModifiedBy>Irina Chelysheva</cp:lastModifiedBy>
  <cp:revision>7</cp:revision>
  <dcterms:created xsi:type="dcterms:W3CDTF">2025-06-06T11:22:21Z</dcterms:created>
  <dcterms:modified xsi:type="dcterms:W3CDTF">2025-11-27T14:11:19Z</dcterms:modified>
</cp:coreProperties>
</file>