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sldIdLst>
    <p:sldId id="256" r:id="rId2"/>
    <p:sldId id="303" r:id="rId3"/>
    <p:sldId id="260" r:id="rId4"/>
    <p:sldId id="295" r:id="rId5"/>
    <p:sldId id="296" r:id="rId6"/>
    <p:sldId id="297" r:id="rId7"/>
    <p:sldId id="304" r:id="rId8"/>
    <p:sldId id="298" r:id="rId9"/>
    <p:sldId id="266" r:id="rId10"/>
    <p:sldId id="267" r:id="rId11"/>
    <p:sldId id="268" r:id="rId12"/>
    <p:sldId id="269" r:id="rId13"/>
    <p:sldId id="270" r:id="rId14"/>
    <p:sldId id="282" r:id="rId15"/>
    <p:sldId id="299" r:id="rId16"/>
    <p:sldId id="300" r:id="rId17"/>
    <p:sldId id="301" r:id="rId18"/>
    <p:sldId id="258" r:id="rId19"/>
    <p:sldId id="259" r:id="rId20"/>
    <p:sldId id="280" r:id="rId21"/>
    <p:sldId id="273" r:id="rId22"/>
    <p:sldId id="274" r:id="rId23"/>
    <p:sldId id="278" r:id="rId24"/>
    <p:sldId id="30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02"/>
  </p:normalViewPr>
  <p:slideViewPr>
    <p:cSldViewPr snapToGrid="0">
      <p:cViewPr varScale="1">
        <p:scale>
          <a:sx n="115" d="100"/>
          <a:sy n="115" d="100"/>
        </p:scale>
        <p:origin x="6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855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91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976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163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6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249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278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483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416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357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17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391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helysheva/data_vis_ggplot2_Feb2026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1-020-01194-5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wirlstats.com/students.html" TargetMode="External"/><Relationship Id="rId7" Type="http://schemas.openxmlformats.org/officeDocument/2006/relationships/hyperlink" Target="https://rstudio.com/resources/cheatsheets/" TargetMode="External"/><Relationship Id="rId2" Type="http://schemas.openxmlformats.org/officeDocument/2006/relationships/hyperlink" Target="https://bookdown.org/rdpeng/rprogdatascience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trebas.github.io/post/2019-03-03-datatable-dplyr/" TargetMode="External"/><Relationship Id="rId5" Type="http://schemas.openxmlformats.org/officeDocument/2006/relationships/hyperlink" Target="https://cran.r-project.org/web/packages/data.table/vignettes/datatable-intro.html" TargetMode="External"/><Relationship Id="rId4" Type="http://schemas.openxmlformats.org/officeDocument/2006/relationships/hyperlink" Target="https://r4ds.had.co.nz/transform.html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github.com/EmilHvitfeldt/r-color-palettes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rosalind.info/problems/locations/" TargetMode="External"/><Relationship Id="rId5" Type="http://schemas.openxmlformats.org/officeDocument/2006/relationships/hyperlink" Target="https://carriebrown.github.io/r-novice-gapminder/challenges/" TargetMode="External"/><Relationship Id="rId4" Type="http://schemas.openxmlformats.org/officeDocument/2006/relationships/hyperlink" Target="https://jokergoo.github.io/ComplexHeatmap-reference/book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Triangular abstract background">
            <a:extLst>
              <a:ext uri="{FF2B5EF4-FFF2-40B4-BE49-F238E27FC236}">
                <a16:creationId xmlns:a16="http://schemas.microsoft.com/office/drawing/2014/main" id="{D5D58044-5A4D-435B-B38C-10E82769E9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AB476BF-4EE2-5243-CABB-6CC72C39BF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46D173-8213-F49E-D308-D38C56060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06780" y="978409"/>
            <a:ext cx="4496529" cy="3678268"/>
          </a:xfrm>
        </p:spPr>
        <p:txBody>
          <a:bodyPr anchor="t">
            <a:normAutofit/>
          </a:bodyPr>
          <a:lstStyle/>
          <a:p>
            <a:pPr algn="ctr"/>
            <a:r>
              <a:rPr lang="en-GB" sz="4000" b="0" i="0" u="none" strike="noStrike" dirty="0">
                <a:solidFill>
                  <a:srgbClr val="203E58"/>
                </a:solidFill>
                <a:effectLst/>
              </a:rPr>
              <a:t>Data visualisation with ggplot2</a:t>
            </a:r>
            <a:endParaRPr lang="en-US" sz="1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DFC6F-0BDD-5261-3F14-A83932ED34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03288" y="4729138"/>
            <a:ext cx="4488812" cy="1150453"/>
          </a:xfrm>
        </p:spPr>
        <p:txBody>
          <a:bodyPr anchor="b">
            <a:normAutofit/>
          </a:bodyPr>
          <a:lstStyle/>
          <a:p>
            <a:pPr algn="ctr"/>
            <a:r>
              <a:rPr lang="en-US" dirty="0"/>
              <a:t>Irina &amp; Rao</a:t>
            </a:r>
          </a:p>
          <a:p>
            <a:pPr algn="ctr"/>
            <a:r>
              <a:rPr lang="en-US" dirty="0"/>
              <a:t>27.02.2026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D28EA4-6F96-F7C6-1D07-5BA5C2738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06781" y="508090"/>
            <a:ext cx="449275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FF93C5-0576-D227-80A7-4CFBA8791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10119" y="6209925"/>
            <a:ext cx="4492754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74887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2">
            <a:extLst>
              <a:ext uri="{FF2B5EF4-FFF2-40B4-BE49-F238E27FC236}">
                <a16:creationId xmlns:a16="http://schemas.microsoft.com/office/drawing/2014/main" id="{F8D02884-8E2E-27CA-7DCD-6DCE968D87C7}"/>
              </a:ext>
            </a:extLst>
          </p:cNvPr>
          <p:cNvSpPr/>
          <p:nvPr/>
        </p:nvSpPr>
        <p:spPr>
          <a:xfrm>
            <a:off x="1630497" y="1709928"/>
            <a:ext cx="8619695" cy="4894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Data </a:t>
            </a:r>
            <a:r>
              <a:rPr lang="en-US" sz="1600" b="1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Visualisation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Intro to ggplot2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Base R plotting vs ggplot2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ggplot2 syntax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Intro to factors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Reshaping 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data.frames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Plotting grouped data - Dot/box/bar plots</a:t>
            </a: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spc="-1" dirty="0">
                <a:solidFill>
                  <a:srgbClr val="000000"/>
                </a:solidFill>
                <a:latin typeface="Calibri"/>
              </a:rPr>
              <a:t>Calculating and adding statistics to the plots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Practical</a:t>
            </a:r>
            <a:r>
              <a:rPr lang="en-US" sz="1600" spc="-1" dirty="0" err="1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endParaRPr lang="en-GB" sz="1600" b="0" strike="noStrike" spc="-1" dirty="0">
              <a:latin typeface="Arial"/>
            </a:endParaRPr>
          </a:p>
          <a:p>
            <a:pPr marL="914400" lvl="2" indent="-21564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OWID Covid data</a:t>
            </a:r>
          </a:p>
          <a:p>
            <a:pPr marL="914400" lvl="2" indent="-21564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Covid vaccine data</a:t>
            </a:r>
          </a:p>
          <a:p>
            <a:pPr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</a:pPr>
            <a:endParaRPr lang="en-US" sz="1600" spc="-1" dirty="0">
              <a:solidFill>
                <a:srgbClr val="000000"/>
              </a:solidFill>
              <a:latin typeface="Calibri"/>
            </a:endParaRPr>
          </a:p>
          <a:p>
            <a:pPr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</a:rPr>
              <a:t>GitHub repository: </a:t>
            </a:r>
            <a:r>
              <a:rPr lang="en-US" sz="1600" spc="-1" dirty="0">
                <a:solidFill>
                  <a:srgbClr val="000000"/>
                </a:solidFill>
                <a:latin typeface="Calibri"/>
                <a:hlinkClick r:id="rId2"/>
              </a:rPr>
              <a:t>https://github.com/Chelysheva/data_vis_ggplot2_Feb2026</a:t>
            </a:r>
            <a:r>
              <a:rPr lang="en-US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b="0" strike="noStrike" spc="-1" dirty="0">
              <a:latin typeface="Arial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7A09486-736A-6764-EA03-4901C7983241}"/>
              </a:ext>
            </a:extLst>
          </p:cNvPr>
          <p:cNvSpPr txBox="1">
            <a:spLocks/>
          </p:cNvSpPr>
          <p:nvPr/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Today’s plan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17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Picture 3"/>
          <p:cNvPicPr/>
          <p:nvPr/>
        </p:nvPicPr>
        <p:blipFill>
          <a:blip r:embed="rId2"/>
          <a:stretch/>
        </p:blipFill>
        <p:spPr>
          <a:xfrm>
            <a:off x="9030147" y="64800"/>
            <a:ext cx="2595600" cy="1883160"/>
          </a:xfrm>
          <a:prstGeom prst="rect">
            <a:avLst/>
          </a:prstGeom>
          <a:ln>
            <a:noFill/>
          </a:ln>
        </p:spPr>
      </p:pic>
      <p:sp>
        <p:nvSpPr>
          <p:cNvPr id="169" name="CustomShape 1"/>
          <p:cNvSpPr/>
          <p:nvPr/>
        </p:nvSpPr>
        <p:spPr>
          <a:xfrm>
            <a:off x="1981560" y="-144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Visualising data in R</a:t>
            </a:r>
            <a:endParaRPr lang="en-GB" sz="4400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0" name="CustomShape 2"/>
          <p:cNvSpPr/>
          <p:nvPr/>
        </p:nvSpPr>
        <p:spPr>
          <a:xfrm>
            <a:off x="1981200" y="1143360"/>
            <a:ext cx="5365800" cy="5029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Base R plotting (e.g. plot() function)</a:t>
            </a:r>
            <a:endParaRPr lang="en-GB" sz="2180" spc="-1">
              <a:latin typeface="Arial"/>
            </a:endParaRPr>
          </a:p>
          <a:p>
            <a:pPr marL="457200"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plot(x = iris$Sepal.Length, y = iris$Petal.Length, col = iris$Species)</a:t>
            </a: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ggplot2 package</a:t>
            </a:r>
            <a:endParaRPr lang="en-GB" sz="2180" spc="-1">
              <a:latin typeface="Arial"/>
            </a:endParaRPr>
          </a:p>
          <a:p>
            <a:pPr marL="457200"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ggplot(iris, aes(x = Sepal.Length, y = Petal.Length, colour = Species)) + geom_point()</a:t>
            </a: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Lattice package</a:t>
            </a:r>
            <a:endParaRPr lang="en-GB" sz="2180" spc="-1">
              <a:latin typeface="Arial"/>
            </a:endParaRPr>
          </a:p>
          <a:p>
            <a:pPr marL="457200"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xyplot(Sepal.Length ~ Petal.Length, data = iris, groups = Species)</a:t>
            </a: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Grid package</a:t>
            </a:r>
            <a:endParaRPr lang="en-GB" sz="2180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Low level plotting (both ggplot2 and lattice built on grid graphics)</a:t>
            </a:r>
            <a:endParaRPr lang="en-GB" sz="1779" spc="-1">
              <a:latin typeface="Arial"/>
            </a:endParaRPr>
          </a:p>
          <a:p>
            <a:pPr marL="150840">
              <a:spcBef>
                <a:spcPts val="437"/>
              </a:spcBef>
              <a:tabLst>
                <a:tab pos="0" algn="l"/>
              </a:tabLst>
            </a:pPr>
            <a:endParaRPr lang="en-GB" sz="1779" spc="-1">
              <a:latin typeface="Arial"/>
            </a:endParaRPr>
          </a:p>
        </p:txBody>
      </p:sp>
      <p:pic>
        <p:nvPicPr>
          <p:cNvPr id="171" name="Picture 4"/>
          <p:cNvPicPr/>
          <p:nvPr/>
        </p:nvPicPr>
        <p:blipFill>
          <a:blip r:embed="rId3"/>
          <a:stretch/>
        </p:blipFill>
        <p:spPr>
          <a:xfrm>
            <a:off x="9030147" y="4116058"/>
            <a:ext cx="2595600" cy="2192400"/>
          </a:xfrm>
          <a:prstGeom prst="rect">
            <a:avLst/>
          </a:prstGeom>
          <a:ln>
            <a:noFill/>
          </a:ln>
        </p:spPr>
      </p:pic>
      <p:pic>
        <p:nvPicPr>
          <p:cNvPr id="172" name="Picture 7"/>
          <p:cNvPicPr/>
          <p:nvPr/>
        </p:nvPicPr>
        <p:blipFill>
          <a:blip r:embed="rId4"/>
          <a:stretch/>
        </p:blipFill>
        <p:spPr>
          <a:xfrm>
            <a:off x="9162350" y="2014200"/>
            <a:ext cx="2595600" cy="2192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CustomShape 1"/>
          <p:cNvSpPr/>
          <p:nvPr/>
        </p:nvSpPr>
        <p:spPr>
          <a:xfrm>
            <a:off x="1981560" y="-144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Graphics devices in R</a:t>
            </a:r>
            <a:endParaRPr lang="en-GB" sz="4400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4" name="CustomShape 2"/>
          <p:cNvSpPr/>
          <p:nvPr/>
        </p:nvSpPr>
        <p:spPr>
          <a:xfrm>
            <a:off x="1981200" y="1143360"/>
            <a:ext cx="8228160" cy="5029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 lnSpcReduction="10000"/>
          </a:bodyPr>
          <a:lstStyle/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The plotting window in Rstudio</a:t>
            </a:r>
            <a:endParaRPr lang="en-GB" sz="2180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Needs to be saved manually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Size of the figure can be adjusted manually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Can be copied to clipboard from RStudio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For quick exploratory visualisation</a:t>
            </a:r>
            <a:endParaRPr lang="en-GB" sz="1779" spc="-1">
              <a:latin typeface="Arial"/>
            </a:endParaRPr>
          </a:p>
          <a:p>
            <a:pPr marL="457200">
              <a:spcBef>
                <a:spcPts val="357"/>
              </a:spcBef>
              <a:tabLst>
                <a:tab pos="0" algn="l"/>
              </a:tabLst>
            </a:pP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A file (svg, png, pdf, tiff, jpeg, bmp)</a:t>
            </a:r>
            <a:endParaRPr lang="en-GB" sz="2180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Saved to file from code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Size of the figure can be specified in the code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For creating reproducible figures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png(), pdf(), svg(), ggsave() </a:t>
            </a: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are functions to save plots</a:t>
            </a: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Start or close graphical devices with </a:t>
            </a:r>
            <a:r>
              <a:rPr lang="en-GB" sz="2180" spc="-1">
                <a:solidFill>
                  <a:srgbClr val="000000"/>
                </a:solidFill>
                <a:latin typeface="Courier New"/>
                <a:ea typeface="DejaVu Sans"/>
              </a:rPr>
              <a:t>dev.new()</a:t>
            </a: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 or </a:t>
            </a:r>
            <a:r>
              <a:rPr lang="en-GB" sz="2180" spc="-1">
                <a:solidFill>
                  <a:srgbClr val="000000"/>
                </a:solidFill>
                <a:latin typeface="Courier New"/>
                <a:ea typeface="DejaVu Sans"/>
              </a:rPr>
              <a:t>dev.off()</a:t>
            </a: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 respectively</a:t>
            </a:r>
            <a:endParaRPr lang="en-GB" sz="2180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Tip: If your plot is not showing up on the window or file that you are expecting it to, you are probably drawing on the wrong device. </a:t>
            </a: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dev.off()</a:t>
            </a: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 may solve this issue.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endParaRPr lang="en-GB" sz="1779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CustomShape 1"/>
          <p:cNvSpPr/>
          <p:nvPr/>
        </p:nvSpPr>
        <p:spPr>
          <a:xfrm>
            <a:off x="0" y="3772730"/>
            <a:ext cx="7389720" cy="19375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ggplot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owid_covid_newyear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,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aes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(x =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total_cases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, y =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total_deaths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))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geom_point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scale_x_log10()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scale_y_log10()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geom_smooth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(method = "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lm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")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ggtitle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("OWID Covid data for Jan 01 2021: Total Cases vs. Total Deaths")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xlab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("Total cases")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ylab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("Total deaths")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theme_bw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theme(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panel.grid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=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element_blank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())</a:t>
            </a:r>
            <a:endParaRPr lang="en-GB" sz="1200" spc="-1" dirty="0"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1981560" y="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Building a graph step-by-step with ggplot2</a:t>
            </a:r>
            <a:endParaRPr lang="en-GB" sz="4400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7" name="Picture 5"/>
          <p:cNvPicPr/>
          <p:nvPr/>
        </p:nvPicPr>
        <p:blipFill>
          <a:blip r:embed="rId2"/>
          <a:stretch/>
        </p:blipFill>
        <p:spPr>
          <a:xfrm>
            <a:off x="1639560" y="647640"/>
            <a:ext cx="3472200" cy="2932920"/>
          </a:xfrm>
          <a:prstGeom prst="rect">
            <a:avLst/>
          </a:prstGeom>
          <a:ln>
            <a:noFill/>
          </a:ln>
        </p:spPr>
      </p:pic>
      <p:pic>
        <p:nvPicPr>
          <p:cNvPr id="178" name="Picture 6"/>
          <p:cNvPicPr/>
          <p:nvPr/>
        </p:nvPicPr>
        <p:blipFill>
          <a:blip r:embed="rId3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sp>
        <p:nvSpPr>
          <p:cNvPr id="179" name="CustomShape 3"/>
          <p:cNvSpPr/>
          <p:nvPr/>
        </p:nvSpPr>
        <p:spPr>
          <a:xfrm>
            <a:off x="9170324" y="3917055"/>
            <a:ext cx="253800" cy="253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80" name="Picture 14"/>
          <p:cNvPicPr/>
          <p:nvPr/>
        </p:nvPicPr>
        <p:blipFill>
          <a:blip r:embed="rId4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1" name="Picture 17"/>
          <p:cNvPicPr/>
          <p:nvPr/>
        </p:nvPicPr>
        <p:blipFill>
          <a:blip r:embed="rId5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2" name="Picture 19"/>
          <p:cNvPicPr/>
          <p:nvPr/>
        </p:nvPicPr>
        <p:blipFill>
          <a:blip r:embed="rId6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3" name="Picture 21"/>
          <p:cNvPicPr/>
          <p:nvPr/>
        </p:nvPicPr>
        <p:blipFill>
          <a:blip r:embed="rId7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4" name="Picture 22"/>
          <p:cNvPicPr/>
          <p:nvPr/>
        </p:nvPicPr>
        <p:blipFill>
          <a:blip r:embed="rId8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5" name="Picture 24"/>
          <p:cNvPicPr/>
          <p:nvPr/>
        </p:nvPicPr>
        <p:blipFill>
          <a:blip r:embed="rId9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6" name="Picture 25"/>
          <p:cNvPicPr/>
          <p:nvPr/>
        </p:nvPicPr>
        <p:blipFill>
          <a:blip r:embed="rId10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7" name="Picture 28"/>
          <p:cNvPicPr/>
          <p:nvPr/>
        </p:nvPicPr>
        <p:blipFill>
          <a:blip r:embed="rId11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8" name="Picture 29"/>
          <p:cNvPicPr/>
          <p:nvPr/>
        </p:nvPicPr>
        <p:blipFill>
          <a:blip r:embed="rId2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CustomShape 1"/>
          <p:cNvSpPr/>
          <p:nvPr/>
        </p:nvSpPr>
        <p:spPr>
          <a:xfrm>
            <a:off x="1981560" y="-144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ggplot2 syntax</a:t>
            </a:r>
            <a:endParaRPr lang="en-GB" sz="4400" spc="-1">
              <a:latin typeface="Arial"/>
            </a:endParaRPr>
          </a:p>
        </p:txBody>
      </p:sp>
      <p:sp>
        <p:nvSpPr>
          <p:cNvPr id="190" name="CustomShape 2"/>
          <p:cNvSpPr/>
          <p:nvPr/>
        </p:nvSpPr>
        <p:spPr>
          <a:xfrm>
            <a:off x="2013240" y="912006"/>
            <a:ext cx="8411040" cy="281556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7030A0"/>
                </a:solidFill>
                <a:latin typeface="Courier New"/>
                <a:ea typeface="DejaVu Sans"/>
              </a:rPr>
              <a:t>ggplot</a:t>
            </a: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(data, 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mapping)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00B0F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geom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_point(mapping, stat, position, colour, fill, shape, size, alpha)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00B05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coord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_cartesian()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E46C0A"/>
                </a:solidFill>
                <a:highlight>
                  <a:srgbClr val="00FFFF"/>
                </a:highlight>
                <a:latin typeface="Courier New"/>
                <a:ea typeface="DejaVu Sans"/>
              </a:rPr>
              <a:t>scale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_colour_discrete()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558ED5"/>
                </a:solidFill>
                <a:highlight>
                  <a:srgbClr val="00FFFF"/>
                </a:highlight>
                <a:latin typeface="Courier New"/>
                <a:ea typeface="DejaVu Sans"/>
              </a:rPr>
              <a:t>facet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_wrap()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FFC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theme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_bw()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ggtitle()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labs()</a:t>
            </a:r>
            <a:endParaRPr lang="en-GB" sz="1779" spc="-1">
              <a:latin typeface="Arial"/>
            </a:endParaRPr>
          </a:p>
        </p:txBody>
      </p:sp>
      <p:sp>
        <p:nvSpPr>
          <p:cNvPr id="191" name="CustomShape 3"/>
          <p:cNvSpPr/>
          <p:nvPr/>
        </p:nvSpPr>
        <p:spPr>
          <a:xfrm>
            <a:off x="2013240" y="4022046"/>
            <a:ext cx="8411040" cy="4964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mapping = aes(x, y, colour, fill, shape, size, alpha)</a:t>
            </a:r>
            <a:endParaRPr lang="en-GB" sz="1779" spc="-1">
              <a:latin typeface="Arial"/>
            </a:endParaRPr>
          </a:p>
        </p:txBody>
      </p:sp>
      <p:sp>
        <p:nvSpPr>
          <p:cNvPr id="192" name="CustomShape 4"/>
          <p:cNvSpPr/>
          <p:nvPr/>
        </p:nvSpPr>
        <p:spPr>
          <a:xfrm>
            <a:off x="2013240" y="4820166"/>
            <a:ext cx="8411040" cy="1461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Note: Colour, shape, alpha, etc. can be passed </a:t>
            </a:r>
            <a:endParaRPr lang="en-GB" spc="-1">
              <a:latin typeface="Arial"/>
            </a:endParaRPr>
          </a:p>
          <a:p>
            <a:pPr marL="343080" indent="-342360">
              <a:buClr>
                <a:srgbClr val="000000"/>
              </a:buClr>
              <a:buFont typeface="StarSymbol"/>
              <a:buAutoNum type="arabicParenR"/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to the </a:t>
            </a:r>
            <a:r>
              <a:rPr lang="en-GB" spc="-1">
                <a:solidFill>
                  <a:srgbClr val="000000"/>
                </a:solidFill>
                <a:highlight>
                  <a:srgbClr val="00FFFF"/>
                </a:highlight>
                <a:latin typeface="Calibri"/>
                <a:ea typeface="DejaVu Sans"/>
              </a:rPr>
              <a:t>mapping argument - changes attributes based on some variable in the dataset itself (e.g. colour = location, or shape = hdi_class)</a:t>
            </a:r>
            <a:endParaRPr lang="en-GB" spc="-1">
              <a:latin typeface="Arial"/>
            </a:endParaRPr>
          </a:p>
          <a:p>
            <a:pPr marL="343080" indent="-342360">
              <a:buClr>
                <a:srgbClr val="000000"/>
              </a:buClr>
              <a:buFont typeface="StarSymbol"/>
              <a:buAutoNum type="arabicParenR"/>
            </a:pPr>
            <a:r>
              <a:rPr lang="en-GB" spc="-1">
                <a:solidFill>
                  <a:srgbClr val="000000"/>
                </a:solidFill>
                <a:highlight>
                  <a:srgbClr val="00FFFF"/>
                </a:highlight>
                <a:latin typeface="Calibri"/>
                <a:ea typeface="DejaVu Sans"/>
              </a:rPr>
              <a:t>directly as specific arguments in the geom function - changes the attributes to fixed values that are provided separately from the data (e.g. colour = “red” or size = 10)</a:t>
            </a:r>
            <a:endParaRPr lang="en-GB" spc="-1">
              <a:latin typeface="Arial"/>
            </a:endParaRPr>
          </a:p>
        </p:txBody>
      </p:sp>
      <p:sp>
        <p:nvSpPr>
          <p:cNvPr id="193" name="CustomShape 5"/>
          <p:cNvSpPr/>
          <p:nvPr/>
        </p:nvSpPr>
        <p:spPr>
          <a:xfrm>
            <a:off x="8817960" y="282726"/>
            <a:ext cx="1819080" cy="91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Global mapping – applies to the entire plot</a:t>
            </a:r>
            <a:endParaRPr lang="en-GB" spc="-1">
              <a:latin typeface="Arial"/>
            </a:endParaRPr>
          </a:p>
        </p:txBody>
      </p:sp>
      <p:sp>
        <p:nvSpPr>
          <p:cNvPr id="194" name="CustomShape 6"/>
          <p:cNvSpPr/>
          <p:nvPr/>
        </p:nvSpPr>
        <p:spPr>
          <a:xfrm>
            <a:off x="8817960" y="1711206"/>
            <a:ext cx="1574640" cy="36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Geom-specific</a:t>
            </a:r>
            <a:endParaRPr lang="en-GB" spc="-1">
              <a:latin typeface="Arial"/>
            </a:endParaRPr>
          </a:p>
        </p:txBody>
      </p:sp>
      <p:sp>
        <p:nvSpPr>
          <p:cNvPr id="195" name="CustomShape 7"/>
          <p:cNvSpPr/>
          <p:nvPr/>
        </p:nvSpPr>
        <p:spPr>
          <a:xfrm>
            <a:off x="4431720" y="1356246"/>
            <a:ext cx="4300920" cy="503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6" name="CustomShape 8"/>
          <p:cNvSpPr/>
          <p:nvPr/>
        </p:nvSpPr>
        <p:spPr>
          <a:xfrm>
            <a:off x="3447120" y="1210446"/>
            <a:ext cx="984600" cy="3002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7" name="CustomShape 9"/>
          <p:cNvSpPr/>
          <p:nvPr/>
        </p:nvSpPr>
        <p:spPr>
          <a:xfrm flipV="1">
            <a:off x="4710400" y="742806"/>
            <a:ext cx="3985200" cy="3175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8" name="CustomShape 10"/>
          <p:cNvSpPr/>
          <p:nvPr/>
        </p:nvSpPr>
        <p:spPr>
          <a:xfrm>
            <a:off x="3738040" y="912006"/>
            <a:ext cx="984600" cy="2934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9" name="CustomShape 11"/>
          <p:cNvSpPr/>
          <p:nvPr/>
        </p:nvSpPr>
        <p:spPr>
          <a:xfrm>
            <a:off x="1981560" y="3652686"/>
            <a:ext cx="1819080" cy="364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Where,</a:t>
            </a:r>
            <a:endParaRPr lang="en-GB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46E16-0860-B5C9-9C94-074DF328D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DEFEBC8-8018-3D67-CF93-D4D2331BB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746" y="475045"/>
            <a:ext cx="9118507" cy="6382955"/>
          </a:xfrm>
          <a:prstGeom prst="rect">
            <a:avLst/>
          </a:prstGeom>
        </p:spPr>
      </p:pic>
      <p:sp>
        <p:nvSpPr>
          <p:cNvPr id="189" name="CustomShape 1">
            <a:extLst>
              <a:ext uri="{FF2B5EF4-FFF2-40B4-BE49-F238E27FC236}">
                <a16:creationId xmlns:a16="http://schemas.microsoft.com/office/drawing/2014/main" id="{B7B879EE-7528-1548-AADA-5AC1CCC923E7}"/>
              </a:ext>
            </a:extLst>
          </p:cNvPr>
          <p:cNvSpPr/>
          <p:nvPr/>
        </p:nvSpPr>
        <p:spPr>
          <a:xfrm>
            <a:off x="1981560" y="-144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Colours in ggplot2</a:t>
            </a:r>
            <a:endParaRPr lang="en-GB" sz="4400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35554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CA725-D9BC-3419-F355-169E8D131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CustomShape 1">
            <a:extLst>
              <a:ext uri="{FF2B5EF4-FFF2-40B4-BE49-F238E27FC236}">
                <a16:creationId xmlns:a16="http://schemas.microsoft.com/office/drawing/2014/main" id="{E65D9A70-1292-CAF4-2C4A-3ECB2F65B0BF}"/>
              </a:ext>
            </a:extLst>
          </p:cNvPr>
          <p:cNvSpPr/>
          <p:nvPr/>
        </p:nvSpPr>
        <p:spPr>
          <a:xfrm>
            <a:off x="1524000" y="0"/>
            <a:ext cx="8644569" cy="6136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9" name="CustomShape 2">
            <a:extLst>
              <a:ext uri="{FF2B5EF4-FFF2-40B4-BE49-F238E27FC236}">
                <a16:creationId xmlns:a16="http://schemas.microsoft.com/office/drawing/2014/main" id="{F708F860-8142-5833-456C-7807B9851C91}"/>
              </a:ext>
            </a:extLst>
          </p:cNvPr>
          <p:cNvSpPr/>
          <p:nvPr/>
        </p:nvSpPr>
        <p:spPr>
          <a:xfrm>
            <a:off x="2436960" y="2222640"/>
            <a:ext cx="3518640" cy="2411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5400" b="1" spc="-1" dirty="0">
                <a:solidFill>
                  <a:srgbClr val="000000"/>
                </a:solidFill>
                <a:ea typeface="DejaVu Sans"/>
              </a:rPr>
              <a:t>Let’s explore practically</a:t>
            </a:r>
            <a:endParaRPr lang="en-GB" sz="5400" spc="-1" dirty="0"/>
          </a:p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endParaRPr lang="en-GB" sz="5400" spc="-1" dirty="0"/>
          </a:p>
        </p:txBody>
      </p:sp>
      <p:sp>
        <p:nvSpPr>
          <p:cNvPr id="380" name="CustomShape 3">
            <a:extLst>
              <a:ext uri="{FF2B5EF4-FFF2-40B4-BE49-F238E27FC236}">
                <a16:creationId xmlns:a16="http://schemas.microsoft.com/office/drawing/2014/main" id="{E53AFD1B-6EDC-AC46-039A-C55B9F6CE8AE}"/>
              </a:ext>
            </a:extLst>
          </p:cNvPr>
          <p:cNvSpPr/>
          <p:nvPr/>
        </p:nvSpPr>
        <p:spPr>
          <a:xfrm>
            <a:off x="5656800" y="851400"/>
            <a:ext cx="4637520" cy="515376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1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4"/>
                  <a:pt x="2445216" y="109244"/>
                </a:cubicBezTo>
                <a:cubicBezTo>
                  <a:pt x="1625714" y="109244"/>
                  <a:pt x="1625714" y="109244"/>
                  <a:pt x="1625714" y="109244"/>
                </a:cubicBezTo>
                <a:cubicBezTo>
                  <a:pt x="1572615" y="109244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8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1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81" name="Graphic 5" descr="Cmd Terminal outline">
            <a:extLst>
              <a:ext uri="{FF2B5EF4-FFF2-40B4-BE49-F238E27FC236}">
                <a16:creationId xmlns:a16="http://schemas.microsoft.com/office/drawing/2014/main" id="{2022AB90-B8B0-FEC5-78E9-BD286748AB7E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008960" y="2341080"/>
            <a:ext cx="2745360" cy="27453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6524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ustomShape 2"/>
          <p:cNvSpPr/>
          <p:nvPr/>
        </p:nvSpPr>
        <p:spPr>
          <a:xfrm>
            <a:off x="1984440" y="1712880"/>
            <a:ext cx="2742480" cy="395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000" b="1" spc="-1">
                <a:solidFill>
                  <a:srgbClr val="000000"/>
                </a:solidFill>
                <a:latin typeface="Calibri"/>
                <a:ea typeface="DejaVu Sans"/>
              </a:rPr>
              <a:t>Box-plots</a:t>
            </a:r>
            <a:endParaRPr lang="en-GB" sz="2000" spc="-1">
              <a:latin typeface="Arial"/>
            </a:endParaRPr>
          </a:p>
        </p:txBody>
      </p:sp>
      <p:sp>
        <p:nvSpPr>
          <p:cNvPr id="208" name="CustomShape 3"/>
          <p:cNvSpPr/>
          <p:nvPr/>
        </p:nvSpPr>
        <p:spPr>
          <a:xfrm>
            <a:off x="1984440" y="2080800"/>
            <a:ext cx="274248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>
                <a:solidFill>
                  <a:srgbClr val="000000"/>
                </a:solidFill>
                <a:latin typeface="Courier New"/>
                <a:ea typeface="Calibri"/>
              </a:rPr>
              <a:t>geom_boxplot()</a:t>
            </a:r>
            <a:endParaRPr lang="en-GB" spc="-1">
              <a:latin typeface="Arial"/>
            </a:endParaRPr>
          </a:p>
        </p:txBody>
      </p:sp>
      <p:pic>
        <p:nvPicPr>
          <p:cNvPr id="209" name="Picture 6" descr="Chart, box and whiske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2641800" y="4245766"/>
            <a:ext cx="2742480" cy="2079360"/>
          </a:xfrm>
          <a:prstGeom prst="rect">
            <a:avLst/>
          </a:prstGeom>
          <a:ln>
            <a:noFill/>
          </a:ln>
        </p:spPr>
      </p:pic>
      <p:pic>
        <p:nvPicPr>
          <p:cNvPr id="210" name="Picture 7" descr="Chart, box and whiske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6164760" y="4328280"/>
            <a:ext cx="2742480" cy="1958760"/>
          </a:xfrm>
          <a:prstGeom prst="rect">
            <a:avLst/>
          </a:prstGeom>
          <a:ln>
            <a:noFill/>
          </a:ln>
        </p:spPr>
      </p:pic>
      <p:pic>
        <p:nvPicPr>
          <p:cNvPr id="211" name="Picture 9" descr="Diagram&#10;&#10;Description automatically generated"/>
          <p:cNvPicPr/>
          <p:nvPr/>
        </p:nvPicPr>
        <p:blipFill>
          <a:blip r:embed="rId4"/>
          <a:stretch/>
        </p:blipFill>
        <p:spPr>
          <a:xfrm>
            <a:off x="3730080" y="1328400"/>
            <a:ext cx="6484680" cy="294804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3908ECED-FFAB-B0CC-21EA-7056BEEB9470}"/>
              </a:ext>
            </a:extLst>
          </p:cNvPr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Plotting grouped data</a:t>
            </a:r>
            <a:endParaRPr lang="en-GB" sz="4400" b="1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CustomShape 2"/>
          <p:cNvSpPr/>
          <p:nvPr/>
        </p:nvSpPr>
        <p:spPr>
          <a:xfrm>
            <a:off x="1984440" y="1344960"/>
            <a:ext cx="2742480" cy="395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000" b="1" spc="-1">
                <a:solidFill>
                  <a:srgbClr val="000000"/>
                </a:solidFill>
                <a:latin typeface="Calibri"/>
                <a:ea typeface="DejaVu Sans"/>
              </a:rPr>
              <a:t>Bar plots</a:t>
            </a:r>
            <a:endParaRPr lang="en-GB" sz="2000" spc="-1">
              <a:latin typeface="Arial"/>
            </a:endParaRPr>
          </a:p>
        </p:txBody>
      </p:sp>
      <p:sp>
        <p:nvSpPr>
          <p:cNvPr id="214" name="CustomShape 3"/>
          <p:cNvSpPr/>
          <p:nvPr/>
        </p:nvSpPr>
        <p:spPr>
          <a:xfrm>
            <a:off x="1986240" y="1715040"/>
            <a:ext cx="38541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ourier New"/>
                <a:ea typeface="DejaVu Sans"/>
              </a:rPr>
              <a:t>geom_bar(</a:t>
            </a:r>
            <a:r>
              <a:rPr lang="en-GB" spc="-1">
                <a:solidFill>
                  <a:srgbClr val="000000"/>
                </a:solidFill>
                <a:latin typeface="Courier New"/>
                <a:ea typeface="Calibri"/>
              </a:rPr>
              <a:t>position=...)</a:t>
            </a:r>
            <a:endParaRPr lang="en-GB" spc="-1">
              <a:latin typeface="Arial"/>
            </a:endParaRPr>
          </a:p>
        </p:txBody>
      </p:sp>
      <p:sp>
        <p:nvSpPr>
          <p:cNvPr id="215" name="CustomShape 4"/>
          <p:cNvSpPr/>
          <p:nvPr/>
        </p:nvSpPr>
        <p:spPr>
          <a:xfrm>
            <a:off x="7740480" y="5292720"/>
            <a:ext cx="26330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ourier New"/>
                <a:ea typeface="Calibri"/>
              </a:rPr>
              <a:t>position="fill"</a:t>
            </a:r>
            <a:endParaRPr lang="en-GB" spc="-1">
              <a:latin typeface="Arial"/>
            </a:endParaRPr>
          </a:p>
        </p:txBody>
      </p:sp>
      <p:sp>
        <p:nvSpPr>
          <p:cNvPr id="216" name="CustomShape 5"/>
          <p:cNvSpPr/>
          <p:nvPr/>
        </p:nvSpPr>
        <p:spPr>
          <a:xfrm>
            <a:off x="4726200" y="5292720"/>
            <a:ext cx="2476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ourier New"/>
                <a:ea typeface="Calibri"/>
              </a:rPr>
              <a:t>position="stack"</a:t>
            </a:r>
            <a:endParaRPr lang="en-GB" spc="-1">
              <a:latin typeface="Arial"/>
            </a:endParaRPr>
          </a:p>
        </p:txBody>
      </p:sp>
      <p:pic>
        <p:nvPicPr>
          <p:cNvPr id="217" name="Picture 8" descr="Chart, ba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1827840" y="2550600"/>
            <a:ext cx="2742480" cy="2742480"/>
          </a:xfrm>
          <a:prstGeom prst="rect">
            <a:avLst/>
          </a:prstGeom>
          <a:ln>
            <a:noFill/>
          </a:ln>
        </p:spPr>
      </p:pic>
      <p:pic>
        <p:nvPicPr>
          <p:cNvPr id="218" name="Picture 9" descr="Chart, ba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4724400" y="2550600"/>
            <a:ext cx="2742480" cy="2742480"/>
          </a:xfrm>
          <a:prstGeom prst="rect">
            <a:avLst/>
          </a:prstGeom>
          <a:ln>
            <a:noFill/>
          </a:ln>
        </p:spPr>
      </p:pic>
      <p:pic>
        <p:nvPicPr>
          <p:cNvPr id="219" name="Picture 10" descr="Chart, bar chart&#10;&#10;Description automatically generated"/>
          <p:cNvPicPr/>
          <p:nvPr/>
        </p:nvPicPr>
        <p:blipFill>
          <a:blip r:embed="rId4"/>
          <a:stretch/>
        </p:blipFill>
        <p:spPr>
          <a:xfrm>
            <a:off x="7628880" y="2550600"/>
            <a:ext cx="2742480" cy="2742480"/>
          </a:xfrm>
          <a:prstGeom prst="rect">
            <a:avLst/>
          </a:prstGeom>
          <a:ln>
            <a:noFill/>
          </a:ln>
        </p:spPr>
      </p:pic>
      <p:sp>
        <p:nvSpPr>
          <p:cNvPr id="220" name="CustomShape 6"/>
          <p:cNvSpPr/>
          <p:nvPr/>
        </p:nvSpPr>
        <p:spPr>
          <a:xfrm>
            <a:off x="1827840" y="5345640"/>
            <a:ext cx="274248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>
                <a:solidFill>
                  <a:srgbClr val="000000"/>
                </a:solidFill>
                <a:latin typeface="Courier New"/>
                <a:ea typeface="DejaVu Sans"/>
              </a:rPr>
              <a:t>position="dodge"</a:t>
            </a:r>
            <a:endParaRPr lang="en-GB" spc="-1">
              <a:latin typeface="Arial"/>
            </a:endParaRPr>
          </a:p>
        </p:txBody>
      </p:sp>
      <p:sp>
        <p:nvSpPr>
          <p:cNvPr id="3" name="CustomShape 1">
            <a:extLst>
              <a:ext uri="{FF2B5EF4-FFF2-40B4-BE49-F238E27FC236}">
                <a16:creationId xmlns:a16="http://schemas.microsoft.com/office/drawing/2014/main" id="{F30F4E2F-2E25-1EFB-458D-FAAED785ECD3}"/>
              </a:ext>
            </a:extLst>
          </p:cNvPr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Plotting grouped data</a:t>
            </a:r>
            <a:endParaRPr lang="en-GB" sz="4400" b="1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CustomShape 1"/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Plotting grouped data</a:t>
            </a:r>
            <a:endParaRPr lang="en-GB" sz="4400" b="1" spc="-1" dirty="0">
              <a:latin typeface="Arial"/>
            </a:endParaRPr>
          </a:p>
        </p:txBody>
      </p:sp>
      <p:sp>
        <p:nvSpPr>
          <p:cNvPr id="222" name="CustomShape 2"/>
          <p:cNvSpPr/>
          <p:nvPr/>
        </p:nvSpPr>
        <p:spPr>
          <a:xfrm>
            <a:off x="1984440" y="1344960"/>
            <a:ext cx="2742480" cy="395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000" b="1" spc="-1">
                <a:solidFill>
                  <a:srgbClr val="000000"/>
                </a:solidFill>
                <a:latin typeface="Calibri"/>
                <a:ea typeface="DejaVu Sans"/>
              </a:rPr>
              <a:t>Dot plots</a:t>
            </a:r>
            <a:endParaRPr lang="en-GB" sz="2000" spc="-1">
              <a:latin typeface="Arial"/>
            </a:endParaRPr>
          </a:p>
        </p:txBody>
      </p:sp>
      <p:sp>
        <p:nvSpPr>
          <p:cNvPr id="223" name="CustomShape 3"/>
          <p:cNvSpPr/>
          <p:nvPr/>
        </p:nvSpPr>
        <p:spPr>
          <a:xfrm>
            <a:off x="1986240" y="1715040"/>
            <a:ext cx="38541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ourier New"/>
                <a:ea typeface="DejaVu Sans"/>
              </a:rPr>
              <a:t>geom_dotplot()</a:t>
            </a:r>
            <a:endParaRPr lang="en-GB" spc="-1">
              <a:latin typeface="Arial"/>
            </a:endParaRPr>
          </a:p>
        </p:txBody>
      </p:sp>
      <p:sp>
        <p:nvSpPr>
          <p:cNvPr id="224" name="CustomShape 4"/>
          <p:cNvSpPr/>
          <p:nvPr/>
        </p:nvSpPr>
        <p:spPr>
          <a:xfrm>
            <a:off x="6258900" y="5394240"/>
            <a:ext cx="518508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ggplot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(…)+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geom_boxplot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(position = "dodge")+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geom_dotplot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pc="-1" dirty="0">
              <a:latin typeface="Arial"/>
            </a:endParaRPr>
          </a:p>
        </p:txBody>
      </p:sp>
      <p:sp>
        <p:nvSpPr>
          <p:cNvPr id="225" name="CustomShape 5"/>
          <p:cNvSpPr/>
          <p:nvPr/>
        </p:nvSpPr>
        <p:spPr>
          <a:xfrm>
            <a:off x="1814160" y="5256360"/>
            <a:ext cx="2757960" cy="913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ggplot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(…)+ 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geom_boxplot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(…)+ 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geom_dotplot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</a:t>
            </a:r>
            <a:endParaRPr lang="en-GB" spc="-1" dirty="0">
              <a:latin typeface="Arial"/>
            </a:endParaRPr>
          </a:p>
        </p:txBody>
      </p:sp>
      <p:sp>
        <p:nvSpPr>
          <p:cNvPr id="226" name="CustomShape 6"/>
          <p:cNvSpPr/>
          <p:nvPr/>
        </p:nvSpPr>
        <p:spPr>
          <a:xfrm>
            <a:off x="4739880" y="3560400"/>
            <a:ext cx="2742480" cy="6448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DejaVu Sans"/>
              </a:rPr>
              <a:t>ggplot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(…)+ 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DejaVu Sans"/>
              </a:rPr>
              <a:t>geom_dotplot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(…)</a:t>
            </a:r>
          </a:p>
        </p:txBody>
      </p:sp>
      <p:pic>
        <p:nvPicPr>
          <p:cNvPr id="227" name="Picture 10" descr="Chart, scatte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4833840" y="1243080"/>
            <a:ext cx="2304000" cy="2319840"/>
          </a:xfrm>
          <a:prstGeom prst="rect">
            <a:avLst/>
          </a:prstGeom>
          <a:ln>
            <a:noFill/>
          </a:ln>
        </p:spPr>
      </p:pic>
      <p:pic>
        <p:nvPicPr>
          <p:cNvPr id="228" name="Picture 12" descr="Chart, scatte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1814160" y="3142440"/>
            <a:ext cx="2742480" cy="2113920"/>
          </a:xfrm>
          <a:prstGeom prst="rect">
            <a:avLst/>
          </a:prstGeom>
          <a:ln>
            <a:noFill/>
          </a:ln>
        </p:spPr>
      </p:pic>
      <p:pic>
        <p:nvPicPr>
          <p:cNvPr id="229" name="Picture 13" descr="Chart, box and whisker chart&#10;&#10;Description automatically generated"/>
          <p:cNvPicPr/>
          <p:nvPr/>
        </p:nvPicPr>
        <p:blipFill>
          <a:blip r:embed="rId4"/>
          <a:stretch/>
        </p:blipFill>
        <p:spPr>
          <a:xfrm>
            <a:off x="7482360" y="3280320"/>
            <a:ext cx="2742480" cy="21139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1981200" y="68400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Understanding factors</a:t>
            </a:r>
            <a:endParaRPr lang="en-GB" sz="4400" spc="-1"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1981200" y="1640160"/>
            <a:ext cx="8384760" cy="3577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Autofit/>
          </a:bodyPr>
          <a:lstStyle/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Factors are used to represent categorical data.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Factors don't have to be binary! You can have many categories.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When you import a table to R, your categorical columns are treated as characters ("Germany", "Belgium", "Germany", etc.) or numbers (1, 2): using safest option -  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DejaVu Sans"/>
              </a:rPr>
              <a:t>stringsAsFactors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 = FALSE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 argument in 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read...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 functions.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You know where your categories are presented. Convert the relevant column into factor: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  df1$col1 &lt;- 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DejaVu Sans"/>
              </a:rPr>
              <a:t>as.factor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(df1$col1)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Factors have levels, you can check all the categories within the factor: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  levels(df1$col1)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</a:pP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FF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FF0000"/>
                </a:solidFill>
                <a:latin typeface="Calibri"/>
                <a:ea typeface="Calibri"/>
              </a:rPr>
              <a:t>You need to have your categories as factors in order to analyse and to plot the data by group!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</a:pPr>
            <a:endParaRPr lang="en-GB" sz="2000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CustomShape 1"/>
          <p:cNvSpPr/>
          <p:nvPr/>
        </p:nvSpPr>
        <p:spPr>
          <a:xfrm>
            <a:off x="1981200" y="65052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Wide vs. Long data format</a:t>
            </a:r>
            <a:endParaRPr lang="en-GB" sz="4400" spc="-1">
              <a:latin typeface="Arial"/>
            </a:endParaRPr>
          </a:p>
        </p:txBody>
      </p:sp>
      <p:pic>
        <p:nvPicPr>
          <p:cNvPr id="233" name="Picture 4" descr="A picture containing text, crossword, photo, different&#10;&#10;Description automatically generated"/>
          <p:cNvPicPr/>
          <p:nvPr/>
        </p:nvPicPr>
        <p:blipFill>
          <a:blip r:embed="rId2"/>
          <a:stretch/>
        </p:blipFill>
        <p:spPr>
          <a:xfrm>
            <a:off x="1887240" y="2494440"/>
            <a:ext cx="8322840" cy="27050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Picture 4" descr="Table&#10;&#10;Description automatically generated"/>
          <p:cNvPicPr/>
          <p:nvPr/>
        </p:nvPicPr>
        <p:blipFill rotWithShape="1">
          <a:blip r:embed="rId2"/>
          <a:srcRect t="11950" b="12126"/>
          <a:stretch/>
        </p:blipFill>
        <p:spPr>
          <a:xfrm>
            <a:off x="1984440" y="2691893"/>
            <a:ext cx="8035200" cy="2023430"/>
          </a:xfrm>
          <a:prstGeom prst="rect">
            <a:avLst/>
          </a:prstGeom>
          <a:ln>
            <a:noFill/>
          </a:ln>
        </p:spPr>
      </p:pic>
      <p:sp>
        <p:nvSpPr>
          <p:cNvPr id="240" name="CustomShape 2"/>
          <p:cNvSpPr/>
          <p:nvPr/>
        </p:nvSpPr>
        <p:spPr>
          <a:xfrm>
            <a:off x="2664084" y="6192108"/>
            <a:ext cx="5889960" cy="366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>
            <a:spAutoFit/>
          </a:bodyPr>
          <a:lstStyle/>
          <a:p>
            <a:pPr>
              <a:lnSpc>
                <a:spcPct val="100000"/>
              </a:lnSpc>
            </a:pPr>
            <a:r>
              <a:rPr lang="en-GB" b="1" spc="-1" dirty="0">
                <a:solidFill>
                  <a:srgbClr val="FF0000"/>
                </a:solidFill>
                <a:latin typeface="Calibri"/>
              </a:rPr>
              <a:t>To plot by groups we need our data to be in a long format!</a:t>
            </a:r>
            <a:endParaRPr lang="en-GB" b="1" spc="-1" dirty="0"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0D6BA7-C969-9B43-AF5E-D5D918D67420}"/>
              </a:ext>
            </a:extLst>
          </p:cNvPr>
          <p:cNvSpPr txBox="1"/>
          <p:nvPr/>
        </p:nvSpPr>
        <p:spPr>
          <a:xfrm>
            <a:off x="1002149" y="2287841"/>
            <a:ext cx="9333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 err="1">
                <a:solidFill>
                  <a:srgbClr val="FF0000"/>
                </a:solidFill>
              </a:rPr>
              <a:t>pivot_longer</a:t>
            </a:r>
            <a:r>
              <a:rPr lang="en-GB" b="1" dirty="0">
                <a:solidFill>
                  <a:srgbClr val="FF0000"/>
                </a:solidFill>
              </a:rPr>
              <a:t>(data = </a:t>
            </a:r>
            <a:r>
              <a:rPr lang="en-GB" b="1" dirty="0" err="1">
                <a:solidFill>
                  <a:srgbClr val="FF0000"/>
                </a:solidFill>
              </a:rPr>
              <a:t>chrData</a:t>
            </a:r>
            <a:r>
              <a:rPr lang="en-GB" b="1" dirty="0">
                <a:solidFill>
                  <a:srgbClr val="FF0000"/>
                </a:solidFill>
              </a:rPr>
              <a:t>, cols = -region, </a:t>
            </a:r>
            <a:r>
              <a:rPr lang="en-GB" b="1" dirty="0" err="1">
                <a:solidFill>
                  <a:srgbClr val="FF0000"/>
                </a:solidFill>
              </a:rPr>
              <a:t>names_to</a:t>
            </a:r>
            <a:r>
              <a:rPr lang="en-GB" b="1" dirty="0">
                <a:solidFill>
                  <a:srgbClr val="FF0000"/>
                </a:solidFill>
              </a:rPr>
              <a:t> = "variable", </a:t>
            </a:r>
            <a:r>
              <a:rPr lang="en-GB" b="1" dirty="0" err="1">
                <a:solidFill>
                  <a:srgbClr val="FF0000"/>
                </a:solidFill>
              </a:rPr>
              <a:t>values_to</a:t>
            </a:r>
            <a:r>
              <a:rPr lang="en-GB" b="1" dirty="0">
                <a:solidFill>
                  <a:srgbClr val="FF0000"/>
                </a:solidFill>
              </a:rPr>
              <a:t> = "value")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B46AA4-34F6-6841-A92B-D9CAD4A95988}"/>
              </a:ext>
            </a:extLst>
          </p:cNvPr>
          <p:cNvSpPr txBox="1"/>
          <p:nvPr/>
        </p:nvSpPr>
        <p:spPr>
          <a:xfrm>
            <a:off x="1369164" y="5047048"/>
            <a:ext cx="847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 err="1">
                <a:solidFill>
                  <a:srgbClr val="0070C0"/>
                </a:solidFill>
              </a:rPr>
              <a:t>pivot_wider</a:t>
            </a:r>
            <a:r>
              <a:rPr lang="en-GB" b="1" dirty="0">
                <a:solidFill>
                  <a:srgbClr val="0070C0"/>
                </a:solidFill>
              </a:rPr>
              <a:t>(data = </a:t>
            </a:r>
            <a:r>
              <a:rPr lang="en-GB" b="1" dirty="0" err="1">
                <a:solidFill>
                  <a:srgbClr val="0070C0"/>
                </a:solidFill>
              </a:rPr>
              <a:t>chrData</a:t>
            </a:r>
            <a:r>
              <a:rPr lang="en-GB" b="1" dirty="0">
                <a:solidFill>
                  <a:srgbClr val="0070C0"/>
                </a:solidFill>
              </a:rPr>
              <a:t>, </a:t>
            </a:r>
            <a:r>
              <a:rPr lang="en-GB" b="1" dirty="0" err="1">
                <a:solidFill>
                  <a:srgbClr val="0070C0"/>
                </a:solidFill>
              </a:rPr>
              <a:t>names_from</a:t>
            </a:r>
            <a:r>
              <a:rPr lang="en-GB" b="1" dirty="0">
                <a:solidFill>
                  <a:srgbClr val="0070C0"/>
                </a:solidFill>
              </a:rPr>
              <a:t> = variable, </a:t>
            </a:r>
            <a:r>
              <a:rPr lang="en-GB" b="1" dirty="0" err="1">
                <a:solidFill>
                  <a:srgbClr val="0070C0"/>
                </a:solidFill>
              </a:rPr>
              <a:t>values_from</a:t>
            </a:r>
            <a:r>
              <a:rPr lang="en-GB" b="1" dirty="0">
                <a:solidFill>
                  <a:srgbClr val="0070C0"/>
                </a:solidFill>
              </a:rPr>
              <a:t> = value)</a:t>
            </a:r>
            <a:endParaRPr lang="en-US" dirty="0"/>
          </a:p>
        </p:txBody>
      </p:sp>
      <p:sp>
        <p:nvSpPr>
          <p:cNvPr id="2" name="TextShape 1">
            <a:extLst>
              <a:ext uri="{FF2B5EF4-FFF2-40B4-BE49-F238E27FC236}">
                <a16:creationId xmlns:a16="http://schemas.microsoft.com/office/drawing/2014/main" id="{FC7DD67E-ADC0-936D-BBEE-3D00E1BF3F0A}"/>
              </a:ext>
            </a:extLst>
          </p:cNvPr>
          <p:cNvSpPr txBox="1"/>
          <p:nvPr/>
        </p:nvSpPr>
        <p:spPr>
          <a:xfrm>
            <a:off x="1855920" y="572040"/>
            <a:ext cx="8479800" cy="11426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</a:rPr>
              <a:t>Reshaping data with </a:t>
            </a:r>
            <a:r>
              <a:rPr lang="en-GB" sz="4400" b="1" spc="-1" dirty="0" err="1">
                <a:solidFill>
                  <a:srgbClr val="000000"/>
                </a:solidFill>
                <a:latin typeface="Calibri"/>
              </a:rPr>
              <a:t>tidyr</a:t>
            </a:r>
            <a:endParaRPr lang="en-US" sz="44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AF54D8-A052-76DC-866D-BF8FAEFC0D82}"/>
              </a:ext>
            </a:extLst>
          </p:cNvPr>
          <p:cNvSpPr txBox="1"/>
          <p:nvPr/>
        </p:nvSpPr>
        <p:spPr>
          <a:xfrm>
            <a:off x="2559206" y="1818671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 dirty="0">
                <a:solidFill>
                  <a:srgbClr val="000000"/>
                </a:solidFill>
                <a:latin typeface="Calibri"/>
              </a:rPr>
              <a:t>Wide-to-long format:</a:t>
            </a:r>
          </a:p>
        </p:txBody>
      </p:sp>
      <p:sp>
        <p:nvSpPr>
          <p:cNvPr id="5" name="CustomShape 4">
            <a:extLst>
              <a:ext uri="{FF2B5EF4-FFF2-40B4-BE49-F238E27FC236}">
                <a16:creationId xmlns:a16="http://schemas.microsoft.com/office/drawing/2014/main" id="{223C68D5-330D-B127-9F9D-2522A1FD36B0}"/>
              </a:ext>
            </a:extLst>
          </p:cNvPr>
          <p:cNvSpPr/>
          <p:nvPr/>
        </p:nvSpPr>
        <p:spPr>
          <a:xfrm>
            <a:off x="2864468" y="4653749"/>
            <a:ext cx="5489192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 dirty="0">
                <a:solidFill>
                  <a:srgbClr val="000000"/>
                </a:solidFill>
                <a:latin typeface="Calibri"/>
              </a:rPr>
              <a:t> Long-to-wide format: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7B618-A4AE-C679-20BE-0D701C1A95A2}"/>
              </a:ext>
            </a:extLst>
          </p:cNvPr>
          <p:cNvSpPr txBox="1"/>
          <p:nvPr/>
        </p:nvSpPr>
        <p:spPr>
          <a:xfrm>
            <a:off x="9481380" y="5893135"/>
            <a:ext cx="2866571" cy="36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b="1" spc="-1" dirty="0" err="1">
                <a:solidFill>
                  <a:srgbClr val="000000"/>
                </a:solidFill>
                <a:latin typeface="Calibri"/>
              </a:rPr>
              <a:t>tidyr</a:t>
            </a:r>
            <a:r>
              <a:rPr lang="en-GB" spc="-1" dirty="0">
                <a:solidFill>
                  <a:srgbClr val="000000"/>
                </a:solidFill>
                <a:latin typeface="Calibri"/>
              </a:rPr>
              <a:t> is a part of </a:t>
            </a:r>
            <a:r>
              <a:rPr lang="en-GB" spc="-1" dirty="0" err="1">
                <a:solidFill>
                  <a:srgbClr val="000000"/>
                </a:solidFill>
                <a:latin typeface="Calibri"/>
              </a:rPr>
              <a:t>Tidyverse</a:t>
            </a:r>
            <a:r>
              <a:rPr lang="en-GB" spc="-1" dirty="0">
                <a:solidFill>
                  <a:srgbClr val="000000"/>
                </a:solidFill>
                <a:latin typeface="Calibri"/>
              </a:rPr>
              <a:t> </a:t>
            </a:r>
            <a:endParaRPr lang="en-GB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1"/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Error bars – </a:t>
            </a:r>
            <a:r>
              <a:rPr lang="en-GB" sz="4400" b="1" spc="-1" dirty="0" err="1">
                <a:solidFill>
                  <a:srgbClr val="000000"/>
                </a:solidFill>
                <a:latin typeface="Calibri"/>
                <a:ea typeface="DejaVu Sans"/>
              </a:rPr>
              <a:t>geom_bar</a:t>
            </a: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()</a:t>
            </a:r>
            <a:endParaRPr lang="en-GB" sz="4400" b="1" spc="-1" dirty="0">
              <a:latin typeface="Arial"/>
            </a:endParaRPr>
          </a:p>
        </p:txBody>
      </p:sp>
      <p:pic>
        <p:nvPicPr>
          <p:cNvPr id="245" name="Picture 7" descr="Chart, ba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1464651" y="1284699"/>
            <a:ext cx="8958549" cy="3383610"/>
          </a:xfrm>
          <a:prstGeom prst="rect">
            <a:avLst/>
          </a:prstGeom>
          <a:ln>
            <a:noFill/>
          </a:ln>
        </p:spPr>
      </p:pic>
      <p:sp>
        <p:nvSpPr>
          <p:cNvPr id="246" name="CustomShape 2"/>
          <p:cNvSpPr/>
          <p:nvPr/>
        </p:nvSpPr>
        <p:spPr>
          <a:xfrm>
            <a:off x="1981200" y="4536047"/>
            <a:ext cx="8442000" cy="147587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ggplot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(data) 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+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geom_bar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aes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(x=group, y=mean), stat="identity", fill="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DejaVu Sans"/>
              </a:rPr>
              <a:t>forestgreen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", alpha=0.5) 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+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geom_errorbar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aes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x=group, 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ymin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=mean-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sd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, 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ymax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=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mean+sd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), width=0.4, 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colour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="orange", size=1.5)</a:t>
            </a:r>
            <a:endParaRPr lang="en-GB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CustomShape 1"/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SD, SE, CI</a:t>
            </a:r>
            <a:endParaRPr lang="en-GB" sz="4400" b="1" spc="-1" dirty="0">
              <a:latin typeface="Arial"/>
            </a:endParaRPr>
          </a:p>
        </p:txBody>
      </p:sp>
      <p:sp>
        <p:nvSpPr>
          <p:cNvPr id="248" name="CustomShape 2"/>
          <p:cNvSpPr/>
          <p:nvPr/>
        </p:nvSpPr>
        <p:spPr>
          <a:xfrm>
            <a:off x="1976520" y="1532880"/>
            <a:ext cx="8160120" cy="4479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marL="285840" indent="-285120">
              <a:buClr>
                <a:srgbClr val="212529"/>
              </a:buClr>
              <a:buFont typeface="Arial"/>
              <a:buChar char="•"/>
            </a:pPr>
            <a:r>
              <a:rPr lang="en-US" spc="-1" dirty="0">
                <a:solidFill>
                  <a:srgbClr val="212529"/>
                </a:solidFill>
                <a:latin typeface="Montserrat"/>
                <a:ea typeface="DejaVu Sans"/>
              </a:rPr>
              <a:t>Standard Deviation (SD) </a:t>
            </a:r>
            <a:r>
              <a:rPr lang="en-US" spc="-1" dirty="0">
                <a:solidFill>
                  <a:srgbClr val="212529"/>
                </a:solidFill>
                <a:latin typeface="Roboto Slab"/>
                <a:ea typeface="DejaVu Sans"/>
              </a:rPr>
              <a:t>represents the amount of dispersion of the variable.</a:t>
            </a:r>
            <a:r>
              <a:rPr lang="en-US" spc="-1" dirty="0">
                <a:solidFill>
                  <a:srgbClr val="212529"/>
                </a:solidFill>
                <a:latin typeface="Roboto Slab"/>
                <a:ea typeface="Calibri"/>
              </a:rPr>
              <a:t> </a:t>
            </a:r>
            <a:r>
              <a:rPr lang="en-US" spc="-1" dirty="0">
                <a:solidFill>
                  <a:srgbClr val="000000"/>
                </a:solidFill>
                <a:latin typeface="Calibri"/>
                <a:ea typeface="Calibri"/>
              </a:rPr>
              <a:t>Calculated as the root square of the variance:</a:t>
            </a:r>
            <a:endParaRPr lang="en-GB" spc="-1" dirty="0">
              <a:latin typeface="Arial"/>
            </a:endParaRPr>
          </a:p>
          <a:p>
            <a:pPr marL="285840" indent="-285120">
              <a:buClr>
                <a:srgbClr val="212529"/>
              </a:buClr>
              <a:buFont typeface="Arial"/>
              <a:buChar char="•"/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 &lt;-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 &lt;- 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sqrt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var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))</a:t>
            </a:r>
            <a:endParaRPr lang="en-GB" spc="-1" dirty="0">
              <a:latin typeface="Arial"/>
            </a:endParaRPr>
          </a:p>
          <a:p>
            <a:pPr marL="285840" indent="-285120">
              <a:buClr>
                <a:srgbClr val="000000"/>
              </a:buClr>
              <a:buFont typeface="Arial"/>
              <a:buChar char="•"/>
            </a:pPr>
            <a:r>
              <a:rPr lang="en-US" spc="-1" dirty="0">
                <a:solidFill>
                  <a:srgbClr val="000000"/>
                </a:solidFill>
                <a:latin typeface="Calibri"/>
                <a:ea typeface="Calibri"/>
              </a:rPr>
              <a:t>Standard Error (SE) is the standard deviation of the vector sampling distribution. Calculated as the SD divided by the square root of the sample size.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se =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 / 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sqrt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length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))</a:t>
            </a:r>
            <a:endParaRPr lang="en-GB" spc="-1" dirty="0">
              <a:latin typeface="Arial"/>
            </a:endParaRPr>
          </a:p>
          <a:p>
            <a:pPr marL="285840" indent="-285120">
              <a:buClr>
                <a:srgbClr val="000000"/>
              </a:buClr>
              <a:buFont typeface="Arial"/>
              <a:buChar char="•"/>
            </a:pPr>
            <a:r>
              <a:rPr lang="en-US" spc="-1" dirty="0">
                <a:solidFill>
                  <a:srgbClr val="000000"/>
                </a:solidFill>
                <a:latin typeface="Calibri"/>
                <a:ea typeface="Calibri"/>
              </a:rPr>
              <a:t>Confidence Interval (CI).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alibri"/>
                <a:ea typeface="Calibri"/>
              </a:rPr>
              <a:t>This interval is defined so that there is a specified probability that a value lies within it. It is calculated as t * SE. Where t is the value of the Student's t-distribution for a specific alpha. 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alpha=0.05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t=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qt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((1-alpha)/2 + .5, 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length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)-1)   </a:t>
            </a:r>
            <a:r>
              <a:rPr lang="en-US" i="1" spc="-1" dirty="0">
                <a:solidFill>
                  <a:srgbClr val="000000"/>
                </a:solidFill>
                <a:latin typeface="Courier New"/>
                <a:ea typeface="Calibri"/>
              </a:rPr>
              <a:t># tend to 1.96 if sample size is big enough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i="1" spc="-1" dirty="0">
                <a:solidFill>
                  <a:srgbClr val="000000"/>
                </a:solidFill>
                <a:latin typeface="Courier New"/>
                <a:ea typeface="Calibri"/>
              </a:rPr>
              <a:t>CI=t*se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pc="-1" dirty="0">
              <a:latin typeface="Arial"/>
            </a:endParaRPr>
          </a:p>
        </p:txBody>
      </p:sp>
      <p:sp>
        <p:nvSpPr>
          <p:cNvPr id="249" name="CustomShape 3"/>
          <p:cNvSpPr/>
          <p:nvPr/>
        </p:nvSpPr>
        <p:spPr>
          <a:xfrm>
            <a:off x="1976520" y="5763600"/>
            <a:ext cx="82382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 dirty="0">
                <a:solidFill>
                  <a:srgbClr val="FF0000"/>
                </a:solidFill>
                <a:latin typeface="Calibri"/>
                <a:ea typeface="DejaVu Sans"/>
              </a:rPr>
              <a:t>Hint: easier way to add error bars without calculation! </a:t>
            </a:r>
            <a:r>
              <a:rPr lang="en-GB" spc="-1" dirty="0">
                <a:solidFill>
                  <a:srgbClr val="FF0000"/>
                </a:solidFill>
                <a:latin typeface="Calibri"/>
                <a:ea typeface="Calibri"/>
              </a:rPr>
              <a:t>Explore </a:t>
            </a:r>
            <a:r>
              <a:rPr lang="en-GB" b="1" spc="-1" dirty="0" err="1">
                <a:solidFill>
                  <a:srgbClr val="FF0000"/>
                </a:solidFill>
                <a:latin typeface="Courier New"/>
                <a:ea typeface="Calibri"/>
              </a:rPr>
              <a:t>stat_summary</a:t>
            </a:r>
            <a:r>
              <a:rPr lang="en-GB" b="1" spc="-1" dirty="0">
                <a:solidFill>
                  <a:srgbClr val="FF0000"/>
                </a:solidFill>
                <a:latin typeface="Courier New"/>
                <a:ea typeface="Calibri"/>
              </a:rPr>
              <a:t>()</a:t>
            </a:r>
            <a:endParaRPr lang="en-GB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CustomShape 1"/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spc="-1">
                <a:solidFill>
                  <a:srgbClr val="000000"/>
                </a:solidFill>
                <a:latin typeface="Calibri"/>
                <a:ea typeface="DejaVu Sans"/>
              </a:rPr>
              <a:t>Faceting</a:t>
            </a:r>
            <a:endParaRPr lang="en-GB" sz="4400" spc="-1">
              <a:latin typeface="Arial"/>
            </a:endParaRPr>
          </a:p>
        </p:txBody>
      </p:sp>
      <p:sp>
        <p:nvSpPr>
          <p:cNvPr id="251" name="CustomShape 2"/>
          <p:cNvSpPr/>
          <p:nvPr/>
        </p:nvSpPr>
        <p:spPr>
          <a:xfrm>
            <a:off x="1981200" y="1130400"/>
            <a:ext cx="8228880" cy="892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>
                <a:solidFill>
                  <a:srgbClr val="000000"/>
                </a:solidFill>
                <a:latin typeface="Courier New"/>
                <a:ea typeface="Calibri"/>
              </a:rPr>
              <a:t>facet_wrap(~var)</a:t>
            </a:r>
            <a:r>
              <a:rPr lang="en-GB" sz="2000" spc="-1">
                <a:solidFill>
                  <a:srgbClr val="000000"/>
                </a:solidFill>
                <a:latin typeface="Calibri"/>
                <a:ea typeface="Calibri"/>
              </a:rPr>
              <a:t> builds a new chart for each level of a categorical variable</a:t>
            </a:r>
            <a:endParaRPr lang="en-GB" sz="2000" spc="-1">
              <a:latin typeface="Arial"/>
            </a:endParaRPr>
          </a:p>
        </p:txBody>
      </p:sp>
      <p:pic>
        <p:nvPicPr>
          <p:cNvPr id="252" name="Picture 4" descr="Chart, waterfall chart&#10;&#10;Description automatically generated"/>
          <p:cNvPicPr/>
          <p:nvPr/>
        </p:nvPicPr>
        <p:blipFill>
          <a:blip r:embed="rId2"/>
          <a:stretch/>
        </p:blipFill>
        <p:spPr>
          <a:xfrm>
            <a:off x="2156520" y="1917000"/>
            <a:ext cx="2742480" cy="1958760"/>
          </a:xfrm>
          <a:prstGeom prst="rect">
            <a:avLst/>
          </a:prstGeom>
          <a:ln>
            <a:noFill/>
          </a:ln>
        </p:spPr>
      </p:pic>
      <p:pic>
        <p:nvPicPr>
          <p:cNvPr id="253" name="Picture 5" descr="Chart, box and whiske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5632680" y="1917000"/>
            <a:ext cx="2742480" cy="1958760"/>
          </a:xfrm>
          <a:prstGeom prst="rect">
            <a:avLst/>
          </a:prstGeom>
          <a:ln>
            <a:noFill/>
          </a:ln>
        </p:spPr>
      </p:pic>
      <p:sp>
        <p:nvSpPr>
          <p:cNvPr id="254" name="CustomShape 3"/>
          <p:cNvSpPr/>
          <p:nvPr/>
        </p:nvSpPr>
        <p:spPr>
          <a:xfrm>
            <a:off x="1992720" y="3803760"/>
            <a:ext cx="8228880" cy="892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facet_grid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(var1~var2)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 builds one chart for each combinations of 2 categorical variables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endParaRPr lang="en-GB" sz="2000" spc="-1" dirty="0">
              <a:latin typeface="Arial"/>
            </a:endParaRPr>
          </a:p>
        </p:txBody>
      </p:sp>
      <p:pic>
        <p:nvPicPr>
          <p:cNvPr id="255" name="Picture 8" descr="Chart, scatter chart&#10;&#10;Description automatically generated"/>
          <p:cNvPicPr/>
          <p:nvPr/>
        </p:nvPicPr>
        <p:blipFill>
          <a:blip r:embed="rId4"/>
          <a:stretch/>
        </p:blipFill>
        <p:spPr>
          <a:xfrm>
            <a:off x="4239120" y="4249440"/>
            <a:ext cx="2445120" cy="2460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1"/>
          <p:cNvSpPr/>
          <p:nvPr/>
        </p:nvSpPr>
        <p:spPr>
          <a:xfrm>
            <a:off x="1981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Basic statistics</a:t>
            </a:r>
            <a:endParaRPr lang="en-GB" sz="4400" spc="-1">
              <a:latin typeface="Arial"/>
            </a:endParaRPr>
          </a:p>
        </p:txBody>
      </p:sp>
      <p:sp>
        <p:nvSpPr>
          <p:cNvPr id="195" name="CustomShape 2"/>
          <p:cNvSpPr/>
          <p:nvPr/>
        </p:nvSpPr>
        <p:spPr>
          <a:xfrm>
            <a:off x="1981200" y="1700280"/>
            <a:ext cx="8227800" cy="4863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fontScale="91000" lnSpcReduction="10000"/>
          </a:bodyPr>
          <a:lstStyle/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Correlations – 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cor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(), 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cor.test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()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T-test (parametric):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Courier New"/>
              <a:buChar char="o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 Unpaired 2-group t-test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t.test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y~x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) 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# where y is numeric and x is a binary factor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t.test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(y1,y2)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 # where y1 and y2 are numeric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Paired 2-group t-test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t.test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(y1,y2, paired=TRUE)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 # where y1 &amp; y2 are numeric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Non-parametric tests: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Unpaired 2-group Mann-Whitney U Test 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wilcox.test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y~A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) 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# where y is numeric and A is A binary factor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wilcox.test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y,x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 # where y and x are numeric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Paired 2-group Wilcoxon Signed Rank Test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wilcox.test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(y1,y2, paired=TRUE) 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# where y1 and y2 are numeric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More than 2 groups - analysis of variance (ANOVA, parametric)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aov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(), 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anova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()</a:t>
            </a:r>
            <a:endParaRPr lang="en-GB" sz="2000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CustomShape 1"/>
          <p:cNvSpPr/>
          <p:nvPr/>
        </p:nvSpPr>
        <p:spPr>
          <a:xfrm>
            <a:off x="1981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Adding statistics to the plots</a:t>
            </a:r>
            <a:endParaRPr lang="en-GB" sz="4400" b="1" spc="-1" dirty="0">
              <a:latin typeface="Arial"/>
            </a:endParaRPr>
          </a:p>
        </p:txBody>
      </p:sp>
      <p:sp>
        <p:nvSpPr>
          <p:cNvPr id="197" name="CustomShape 2"/>
          <p:cNvSpPr/>
          <p:nvPr/>
        </p:nvSpPr>
        <p:spPr>
          <a:xfrm>
            <a:off x="1981200" y="1600200"/>
            <a:ext cx="8228520" cy="452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fontScale="92500" lnSpcReduction="10000"/>
          </a:bodyPr>
          <a:lstStyle/>
          <a:p>
            <a:pPr>
              <a:spcBef>
                <a:spcPts val="479"/>
              </a:spcBef>
              <a:tabLst>
                <a:tab pos="0" algn="l"/>
              </a:tabLst>
            </a:pPr>
            <a:r>
              <a:rPr lang="en-GB" sz="2400" spc="-1" dirty="0">
                <a:solidFill>
                  <a:srgbClr val="000000"/>
                </a:solidFill>
                <a:latin typeface="Courier New"/>
                <a:ea typeface="DejaVu Sans"/>
              </a:rPr>
              <a:t>library</a:t>
            </a:r>
            <a:r>
              <a:rPr lang="en-GB" sz="2400" b="1" spc="-1" dirty="0">
                <a:solidFill>
                  <a:srgbClr val="000000"/>
                </a:solidFill>
                <a:latin typeface="Courier New"/>
                <a:ea typeface="DejaVu Sans"/>
              </a:rPr>
              <a:t>(</a:t>
            </a:r>
            <a:r>
              <a:rPr lang="en-GB" sz="2400" b="1" spc="-1" dirty="0" err="1">
                <a:solidFill>
                  <a:srgbClr val="000000"/>
                </a:solidFill>
                <a:latin typeface="Courier New"/>
                <a:ea typeface="Calibri"/>
              </a:rPr>
              <a:t>ggpubr</a:t>
            </a:r>
            <a:r>
              <a:rPr lang="en-GB" sz="2400" b="1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endParaRPr lang="en-GB" sz="2400" spc="-1" dirty="0">
              <a:latin typeface="Arial"/>
            </a:endParaRPr>
          </a:p>
          <a:p>
            <a:pPr marL="343080" indent="-342000"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Perform the test</a:t>
            </a:r>
            <a:endParaRPr lang="en-GB" sz="2400" spc="-1" dirty="0">
              <a:latin typeface="Arial"/>
            </a:endParaRPr>
          </a:p>
          <a:p>
            <a:pPr marL="343080" indent="-342000" algn="just">
              <a:spcBef>
                <a:spcPts val="479"/>
              </a:spcBef>
              <a:tabLst>
                <a:tab pos="0" algn="l"/>
              </a:tabLst>
            </a:pPr>
            <a:r>
              <a:rPr lang="en-GB" sz="2400" b="1" spc="-1" dirty="0" err="1">
                <a:solidFill>
                  <a:srgbClr val="000000"/>
                </a:solidFill>
                <a:latin typeface="Courier New"/>
                <a:ea typeface="Calibri"/>
              </a:rPr>
              <a:t>compare_means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(formula, data, method = "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wilcox.test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", paired = FALSE,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group.by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NULL,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ref.group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NULL, </a:t>
            </a:r>
            <a:r>
              <a:rPr lang="en-GB" sz="2400" b="1" spc="-1" dirty="0">
                <a:solidFill>
                  <a:srgbClr val="000000"/>
                </a:solidFill>
                <a:latin typeface="Courier New"/>
                <a:ea typeface="Calibri"/>
              </a:rPr>
              <a:t>...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endParaRPr lang="en-GB" sz="2400" spc="-1" dirty="0">
              <a:latin typeface="Arial"/>
            </a:endParaRPr>
          </a:p>
          <a:p>
            <a:pPr marL="343080" indent="-342000">
              <a:spcBef>
                <a:spcPts val="479"/>
              </a:spcBef>
              <a:tabLst>
                <a:tab pos="0" algn="l"/>
              </a:tabLst>
            </a:pP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*method = "</a:t>
            </a:r>
            <a:r>
              <a:rPr lang="en-GB" sz="2400" spc="-1" dirty="0" err="1">
                <a:solidFill>
                  <a:srgbClr val="000000"/>
                </a:solidFill>
                <a:latin typeface="Calibri"/>
                <a:ea typeface="Calibri"/>
              </a:rPr>
              <a:t>t.test</a:t>
            </a: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", "</a:t>
            </a:r>
            <a:r>
              <a:rPr lang="en-GB" sz="2400" spc="-1" dirty="0" err="1">
                <a:solidFill>
                  <a:srgbClr val="000000"/>
                </a:solidFill>
                <a:latin typeface="Calibri"/>
                <a:ea typeface="Calibri"/>
              </a:rPr>
              <a:t>anova</a:t>
            </a: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"</a:t>
            </a:r>
            <a:endParaRPr lang="en-GB" sz="2400" spc="-1" dirty="0">
              <a:latin typeface="Arial"/>
            </a:endParaRPr>
          </a:p>
          <a:p>
            <a:pPr marL="343080" indent="-342000"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Or just add the significance levels to the plot</a:t>
            </a:r>
            <a:endParaRPr lang="en-GB" sz="2400" spc="-1" dirty="0">
              <a:latin typeface="Arial"/>
            </a:endParaRPr>
          </a:p>
          <a:p>
            <a:pPr>
              <a:spcBef>
                <a:spcPts val="479"/>
              </a:spcBef>
              <a:tabLst>
                <a:tab pos="0" algn="l"/>
              </a:tabLst>
            </a:pPr>
            <a:r>
              <a:rPr lang="en-GB" sz="2400" b="1" spc="-1" dirty="0" err="1">
                <a:solidFill>
                  <a:srgbClr val="000000"/>
                </a:solidFill>
                <a:latin typeface="Courier New"/>
                <a:ea typeface="Calibri"/>
              </a:rPr>
              <a:t>stat_compare_means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(mapping = NULL, comparisons = NULL,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hide.ns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FALSE, label = NULL,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label.x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NULL,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label.y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NULL, </a:t>
            </a:r>
            <a:r>
              <a:rPr lang="en-GB" sz="2400" b="1" spc="-1" dirty="0">
                <a:solidFill>
                  <a:srgbClr val="000000"/>
                </a:solidFill>
                <a:latin typeface="Courier New"/>
                <a:ea typeface="Calibri"/>
              </a:rPr>
              <a:t>...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endParaRPr lang="en-GB" sz="2400" spc="-1" dirty="0">
              <a:latin typeface="Arial"/>
            </a:endParaRPr>
          </a:p>
          <a:p>
            <a:pPr marL="342900" indent="-342900">
              <a:spcBef>
                <a:spcPts val="64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GB" sz="2400" spc="-1" dirty="0">
                <a:latin typeface="Arial"/>
              </a:rPr>
              <a:t>If adjusted p-values are required</a:t>
            </a:r>
          </a:p>
          <a:p>
            <a:pPr>
              <a:spcBef>
                <a:spcPts val="641"/>
              </a:spcBef>
              <a:tabLst>
                <a:tab pos="0" algn="l"/>
              </a:tabLst>
            </a:pPr>
            <a:r>
              <a:rPr lang="en-GB" sz="2400" b="1" spc="-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stat_pvalue_manual</a:t>
            </a:r>
            <a:r>
              <a:rPr lang="en-GB" sz="2400" spc="-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400" spc="-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stat.test</a:t>
            </a:r>
            <a:r>
              <a:rPr lang="en-GB" sz="2400" spc="-1" dirty="0">
                <a:latin typeface="Courier New" panose="02070309020205020404" pitchFamily="49" charset="0"/>
                <a:cs typeface="Courier New" panose="02070309020205020404" pitchFamily="49" charset="0"/>
              </a:rPr>
              <a:t>, label = "</a:t>
            </a:r>
            <a:r>
              <a:rPr lang="en-GB" sz="2400" spc="-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p.adj.signif</a:t>
            </a:r>
            <a:r>
              <a:rPr lang="en-GB" sz="2400" spc="-1" dirty="0">
                <a:latin typeface="Courier New" panose="02070309020205020404" pitchFamily="49" charset="0"/>
                <a:cs typeface="Courier New" panose="02070309020205020404" pitchFamily="49" charset="0"/>
              </a:rPr>
              <a:t>”, </a:t>
            </a:r>
            <a:r>
              <a:rPr lang="en-GB" sz="2400" spc="-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hide.ns</a:t>
            </a:r>
            <a:r>
              <a:rPr lang="en-GB" sz="2400" spc="-1" dirty="0">
                <a:latin typeface="Courier New" panose="02070309020205020404" pitchFamily="49" charset="0"/>
                <a:cs typeface="Courier New" panose="02070309020205020404" pitchFamily="49" charset="0"/>
              </a:rPr>
              <a:t> = TRUE, ...)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AF7D8-062C-D5F7-0987-5F8A07E91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CustomShape 1">
            <a:extLst>
              <a:ext uri="{FF2B5EF4-FFF2-40B4-BE49-F238E27FC236}">
                <a16:creationId xmlns:a16="http://schemas.microsoft.com/office/drawing/2014/main" id="{42BD4FAC-662F-7E5A-D96C-3BA33EDB0862}"/>
              </a:ext>
            </a:extLst>
          </p:cNvPr>
          <p:cNvSpPr/>
          <p:nvPr/>
        </p:nvSpPr>
        <p:spPr>
          <a:xfrm>
            <a:off x="1524000" y="0"/>
            <a:ext cx="8435248" cy="57508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9" name="CustomShape 2">
            <a:extLst>
              <a:ext uri="{FF2B5EF4-FFF2-40B4-BE49-F238E27FC236}">
                <a16:creationId xmlns:a16="http://schemas.microsoft.com/office/drawing/2014/main" id="{17E2D102-E2F1-0129-F42D-532A280580F9}"/>
              </a:ext>
            </a:extLst>
          </p:cNvPr>
          <p:cNvSpPr/>
          <p:nvPr/>
        </p:nvSpPr>
        <p:spPr>
          <a:xfrm>
            <a:off x="2436960" y="2222640"/>
            <a:ext cx="3518640" cy="2411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5400" b="1" spc="-1" dirty="0">
                <a:solidFill>
                  <a:schemeClr val="tx2"/>
                </a:solidFill>
                <a:ea typeface="DejaVu Sans"/>
              </a:rPr>
              <a:t>Let’s explore practically</a:t>
            </a:r>
            <a:endParaRPr lang="en-GB" sz="5400" spc="-1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endParaRPr lang="en-GB" sz="5400" spc="-1" dirty="0">
              <a:solidFill>
                <a:schemeClr val="tx2"/>
              </a:solidFill>
            </a:endParaRPr>
          </a:p>
        </p:txBody>
      </p:sp>
      <p:sp>
        <p:nvSpPr>
          <p:cNvPr id="380" name="CustomShape 3">
            <a:extLst>
              <a:ext uri="{FF2B5EF4-FFF2-40B4-BE49-F238E27FC236}">
                <a16:creationId xmlns:a16="http://schemas.microsoft.com/office/drawing/2014/main" id="{86A8C77C-A7A9-E005-11DC-48A744E2D86B}"/>
              </a:ext>
            </a:extLst>
          </p:cNvPr>
          <p:cNvSpPr/>
          <p:nvPr/>
        </p:nvSpPr>
        <p:spPr>
          <a:xfrm>
            <a:off x="5656800" y="851400"/>
            <a:ext cx="4637520" cy="515376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1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4"/>
                  <a:pt x="2445216" y="109244"/>
                </a:cubicBezTo>
                <a:cubicBezTo>
                  <a:pt x="1625714" y="109244"/>
                  <a:pt x="1625714" y="109244"/>
                  <a:pt x="1625714" y="109244"/>
                </a:cubicBezTo>
                <a:cubicBezTo>
                  <a:pt x="1572615" y="109244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8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1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81" name="Graphic 5" descr="Cmd Terminal outline">
            <a:extLst>
              <a:ext uri="{FF2B5EF4-FFF2-40B4-BE49-F238E27FC236}">
                <a16:creationId xmlns:a16="http://schemas.microsoft.com/office/drawing/2014/main" id="{6D21C3E6-15C4-BC7B-096D-FAA533CB3B7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008960" y="2341080"/>
            <a:ext cx="2745360" cy="27453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0850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CustomShape 1"/>
          <p:cNvSpPr/>
          <p:nvPr/>
        </p:nvSpPr>
        <p:spPr>
          <a:xfrm>
            <a:off x="1981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3200" b="1" spc="-1" dirty="0">
                <a:solidFill>
                  <a:schemeClr val="tx2"/>
                </a:solidFill>
                <a:latin typeface="+mj-lt"/>
                <a:ea typeface="DejaVu Sans"/>
              </a:rPr>
              <a:t>Real dataset</a:t>
            </a:r>
            <a:endParaRPr lang="en-GB" sz="3200" spc="-1" dirty="0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368" name="Picture 4" descr="Text, timeline&#10;&#10;Description automatically generated"/>
          <p:cNvPicPr/>
          <p:nvPr/>
        </p:nvPicPr>
        <p:blipFill>
          <a:blip r:embed="rId2"/>
          <a:stretch/>
        </p:blipFill>
        <p:spPr>
          <a:xfrm>
            <a:off x="2328960" y="1154160"/>
            <a:ext cx="7071480" cy="4798800"/>
          </a:xfrm>
          <a:prstGeom prst="rect">
            <a:avLst/>
          </a:prstGeom>
          <a:ln>
            <a:noFill/>
          </a:ln>
        </p:spPr>
      </p:pic>
      <p:sp>
        <p:nvSpPr>
          <p:cNvPr id="369" name="CustomShape 2"/>
          <p:cNvSpPr/>
          <p:nvPr/>
        </p:nvSpPr>
        <p:spPr>
          <a:xfrm>
            <a:off x="7019881" y="5952960"/>
            <a:ext cx="4104360" cy="364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 dirty="0">
                <a:solidFill>
                  <a:srgbClr val="000000"/>
                </a:solidFill>
                <a:ea typeface="Calibri"/>
              </a:rPr>
              <a:t>DOI: </a:t>
            </a:r>
            <a:r>
              <a:rPr lang="en-GB" u="sng" spc="-1" dirty="0">
                <a:solidFill>
                  <a:srgbClr val="0000FF"/>
                </a:solidFill>
                <a:ea typeface="Calibri"/>
                <a:hlinkClick r:id="rId3"/>
              </a:rPr>
              <a:t>10.1038/s41591-020-01194-5</a:t>
            </a:r>
            <a:endParaRPr lang="en-GB" spc="-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CustomShape 1"/>
          <p:cNvSpPr/>
          <p:nvPr/>
        </p:nvSpPr>
        <p:spPr>
          <a:xfrm>
            <a:off x="1981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3200" b="1" spc="-1">
                <a:solidFill>
                  <a:schemeClr val="tx2"/>
                </a:solidFill>
                <a:latin typeface="+mj-lt"/>
                <a:ea typeface="DejaVu Sans"/>
              </a:rPr>
              <a:t>Data to explore - MSD</a:t>
            </a:r>
            <a:endParaRPr lang="en-GB" sz="3200" spc="-1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371" name="Picture 4" descr="Chart, box and whiske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2770541" y="1251000"/>
            <a:ext cx="6695640" cy="3938040"/>
          </a:xfrm>
          <a:prstGeom prst="rect">
            <a:avLst/>
          </a:prstGeom>
          <a:ln>
            <a:noFill/>
          </a:ln>
        </p:spPr>
      </p:pic>
      <p:sp>
        <p:nvSpPr>
          <p:cNvPr id="372" name="CustomShape 2"/>
          <p:cNvSpPr/>
          <p:nvPr/>
        </p:nvSpPr>
        <p:spPr>
          <a:xfrm>
            <a:off x="536801" y="5205600"/>
            <a:ext cx="11259239" cy="11680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spc="-1" dirty="0">
                <a:solidFill>
                  <a:srgbClr val="000000"/>
                </a:solidFill>
                <a:ea typeface="Calibri"/>
              </a:rPr>
              <a:t>A multiplex cytokine analysis was performed on day 7 after vaccination using supernatants after antigen-specific stimulation of PBMCs from ChAdOx1 nCov-19 (red) and </a:t>
            </a:r>
            <a:r>
              <a:rPr lang="en-GB" sz="1400" spc="-1" dirty="0" err="1">
                <a:solidFill>
                  <a:srgbClr val="000000"/>
                </a:solidFill>
                <a:ea typeface="Calibri"/>
              </a:rPr>
              <a:t>MenACWY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 (blue). Number of samples presented: </a:t>
            </a:r>
            <a:r>
              <a:rPr lang="en-GB" sz="1400" spc="-1" dirty="0" err="1">
                <a:solidFill>
                  <a:srgbClr val="000000"/>
                </a:solidFill>
                <a:ea typeface="Calibri"/>
              </a:rPr>
              <a:t>MenACWY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–ChAdOx1 nCov-19: IFN-</a:t>
            </a:r>
            <a:r>
              <a:rPr lang="en-GB" sz="1400" spc="-1" dirty="0" err="1">
                <a:solidFill>
                  <a:srgbClr val="000000"/>
                </a:solidFill>
                <a:ea typeface="Calibri"/>
              </a:rPr>
              <a:t>γ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40,40); IL-2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42,42); TNF-α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40,41); IL-1β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41,42); IL-12p70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38,28); IL-4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38,38); IL-10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41,39); IL-13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31,36); and IL-8 (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n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= 42,41). Individual data points are shown here as an aligned dot plot with lines showing the median with IQR. Significant differences were determined by two-tailed Mann–Whitney test with Bonferroni correction for multiple comparisons (***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P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&lt; 0.001; **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P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&lt; 0.01; *</a:t>
            </a:r>
            <a:r>
              <a:rPr lang="en-GB" sz="1400" i="1" spc="-1" dirty="0">
                <a:solidFill>
                  <a:srgbClr val="000000"/>
                </a:solidFill>
                <a:ea typeface="Calibri"/>
              </a:rPr>
              <a:t>P</a:t>
            </a:r>
            <a:r>
              <a:rPr lang="en-GB" sz="1400" spc="-1" dirty="0">
                <a:solidFill>
                  <a:srgbClr val="000000"/>
                </a:solidFill>
                <a:ea typeface="Calibri"/>
              </a:rPr>
              <a:t> &lt; 0.05).</a:t>
            </a:r>
            <a:endParaRPr lang="en-GB" sz="1400" spc="-1" dirty="0"/>
          </a:p>
        </p:txBody>
      </p:sp>
      <p:sp>
        <p:nvSpPr>
          <p:cNvPr id="373" name="CustomShape 3"/>
          <p:cNvSpPr/>
          <p:nvPr/>
        </p:nvSpPr>
        <p:spPr>
          <a:xfrm>
            <a:off x="3593141" y="1313280"/>
            <a:ext cx="615960" cy="39510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4" name="CustomShape 4"/>
          <p:cNvSpPr/>
          <p:nvPr/>
        </p:nvSpPr>
        <p:spPr>
          <a:xfrm>
            <a:off x="4211621" y="1313280"/>
            <a:ext cx="615960" cy="39510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5" name="CustomShape 5"/>
          <p:cNvSpPr/>
          <p:nvPr/>
        </p:nvSpPr>
        <p:spPr>
          <a:xfrm>
            <a:off x="5550461" y="1313280"/>
            <a:ext cx="615960" cy="39510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6" name="CustomShape 6"/>
          <p:cNvSpPr/>
          <p:nvPr/>
        </p:nvSpPr>
        <p:spPr>
          <a:xfrm>
            <a:off x="7523261" y="1313280"/>
            <a:ext cx="615960" cy="39510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7" name="CustomShape 7"/>
          <p:cNvSpPr/>
          <p:nvPr/>
        </p:nvSpPr>
        <p:spPr>
          <a:xfrm>
            <a:off x="2089421" y="1234440"/>
            <a:ext cx="2742120" cy="364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 dirty="0">
                <a:solidFill>
                  <a:srgbClr val="000000"/>
                </a:solidFill>
                <a:ea typeface="DejaVu Sans"/>
              </a:rPr>
              <a:t>Fig.1</a:t>
            </a:r>
            <a:endParaRPr lang="en-GB" spc="-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CustomShape 1"/>
          <p:cNvSpPr/>
          <p:nvPr/>
        </p:nvSpPr>
        <p:spPr>
          <a:xfrm>
            <a:off x="1981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3200" b="1" spc="-1" dirty="0">
                <a:solidFill>
                  <a:schemeClr val="tx2"/>
                </a:solidFill>
                <a:latin typeface="+mj-lt"/>
                <a:ea typeface="DejaVu Sans"/>
              </a:rPr>
              <a:t>Useful references</a:t>
            </a:r>
            <a:endParaRPr lang="en-GB" sz="3200" spc="-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89" name="CustomShape 2"/>
          <p:cNvSpPr/>
          <p:nvPr/>
        </p:nvSpPr>
        <p:spPr>
          <a:xfrm>
            <a:off x="1981200" y="2034720"/>
            <a:ext cx="8227800" cy="424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2"/>
              </a:rPr>
              <a:t>R Programming for Data Science (Roger Peng)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Ch. 3, 4, 5, 9</a:t>
            </a:r>
            <a:endParaRPr lang="en-GB" sz="2180" spc="-1" dirty="0"/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3"/>
              </a:rPr>
              <a:t>Swirl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Interactive learning</a:t>
            </a:r>
            <a:endParaRPr lang="en-GB" sz="2180" spc="-1" dirty="0"/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4"/>
              </a:rPr>
              <a:t>R for Data Science (Hadley Wickham)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Using </a:t>
            </a:r>
            <a:r>
              <a:rPr lang="en-GB" sz="2180" spc="-1" dirty="0" err="1">
                <a:solidFill>
                  <a:srgbClr val="000000"/>
                </a:solidFill>
                <a:ea typeface="DejaVu Sans"/>
              </a:rPr>
              <a:t>Dplyr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verbs</a:t>
            </a:r>
            <a:endParaRPr lang="en-GB" sz="218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5"/>
              </a:rPr>
              <a:t>The data.table package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Intro</a:t>
            </a:r>
            <a:endParaRPr lang="en-GB" sz="215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6"/>
              </a:rPr>
              <a:t>A data.table and Dplyr tour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Side by side comparison of functions</a:t>
            </a:r>
            <a:endParaRPr lang="en-GB" sz="215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7"/>
              </a:rPr>
              <a:t>Cheatsheets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quick reference for tasks like data wrangling, visualisation, and several packages</a:t>
            </a:r>
            <a:endParaRPr lang="en-GB" sz="2150" spc="-1" dirty="0"/>
          </a:p>
          <a:p>
            <a:pPr marL="150480">
              <a:spcBef>
                <a:spcPts val="437"/>
              </a:spcBef>
              <a:tabLst>
                <a:tab pos="0" algn="l"/>
              </a:tabLst>
            </a:pPr>
            <a:endParaRPr lang="en-GB" sz="2150" spc="-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CustomShape 2"/>
          <p:cNvSpPr/>
          <p:nvPr/>
        </p:nvSpPr>
        <p:spPr>
          <a:xfrm>
            <a:off x="1981200" y="2034720"/>
            <a:ext cx="8227800" cy="424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2"/>
              </a:rPr>
              <a:t>https://github.com/EmilHvitfeldt/r-color-palettes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a huge list of R palettes</a:t>
            </a:r>
            <a:endParaRPr lang="en-GB" sz="2180" spc="-1" dirty="0">
              <a:latin typeface="Arial"/>
            </a:endParaRP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3"/>
              </a:rPr>
              <a:t>https://colorbrewer2.org/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</a:t>
            </a:r>
            <a:r>
              <a:rPr lang="en-GB" sz="2180" spc="-1" dirty="0" err="1">
                <a:solidFill>
                  <a:srgbClr val="000000"/>
                </a:solidFill>
                <a:latin typeface="Calibri"/>
                <a:ea typeface="DejaVu Sans"/>
              </a:rPr>
              <a:t>RColorBrewer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package based on this tool by Cynthia Brewer</a:t>
            </a:r>
            <a:endParaRPr lang="en-GB" sz="2180" spc="-1" dirty="0">
              <a:latin typeface="Arial"/>
            </a:endParaRP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4"/>
              </a:rPr>
              <a:t>https://jokergoo.github.io/ComplexHeatmap-reference/book/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R package to produce Complex Heatmaps</a:t>
            </a: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 dirty="0">
                <a:latin typeface="Arial"/>
                <a:hlinkClick r:id="rId5"/>
              </a:rPr>
              <a:t>https://carriebrown.github.io/r-novice-gapminder/challenges/</a:t>
            </a:r>
            <a:r>
              <a:rPr lang="en-GB" sz="2180" spc="-1" dirty="0">
                <a:solidFill>
                  <a:srgbClr val="000000"/>
                </a:solidFill>
                <a:latin typeface="Calibri"/>
              </a:rPr>
              <a:t> - R challenges</a:t>
            </a: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 dirty="0">
                <a:latin typeface="Arial"/>
                <a:hlinkClick r:id="rId6"/>
              </a:rPr>
              <a:t>https://rosalind.info/problems/locations/</a:t>
            </a:r>
            <a:r>
              <a:rPr lang="en-GB" sz="2180" spc="-1" dirty="0">
                <a:solidFill>
                  <a:srgbClr val="000000"/>
                </a:solidFill>
                <a:latin typeface="Calibri"/>
              </a:rPr>
              <a:t> - biological programming and algorithmic challenges (mainly geared towards python, but can be solved using R as well)</a:t>
            </a:r>
            <a:endParaRPr lang="en-GB" sz="2180" spc="-1" dirty="0">
              <a:latin typeface="Arial"/>
            </a:endParaRPr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6E8A13AE-8789-6470-DDB4-A3CD0A60C230}"/>
              </a:ext>
            </a:extLst>
          </p:cNvPr>
          <p:cNvSpPr/>
          <p:nvPr/>
        </p:nvSpPr>
        <p:spPr>
          <a:xfrm>
            <a:off x="1981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3200" b="1" spc="-1" dirty="0">
                <a:solidFill>
                  <a:schemeClr val="tx2"/>
                </a:solidFill>
                <a:latin typeface="+mj-lt"/>
                <a:ea typeface="DejaVu Sans"/>
              </a:rPr>
              <a:t>Useful references</a:t>
            </a:r>
            <a:endParaRPr lang="en-GB" sz="3200" spc="-1" dirty="0">
              <a:solidFill>
                <a:schemeClr val="tx2"/>
              </a:solidFill>
              <a:latin typeface="+mj-l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1807</Words>
  <Application>Microsoft Macintosh PowerPoint</Application>
  <PresentationFormat>Widescreen</PresentationFormat>
  <Paragraphs>167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Arial</vt:lpstr>
      <vt:lpstr>Bierstadt</vt:lpstr>
      <vt:lpstr>Calibri</vt:lpstr>
      <vt:lpstr>Courier New</vt:lpstr>
      <vt:lpstr>DejaVu Sans</vt:lpstr>
      <vt:lpstr>Montserrat</vt:lpstr>
      <vt:lpstr>Neue Haas Grotesk Text Pro</vt:lpstr>
      <vt:lpstr>Roboto Slab</vt:lpstr>
      <vt:lpstr>StarSymbol</vt:lpstr>
      <vt:lpstr>Wingdings 3</vt:lpstr>
      <vt:lpstr>GestaltVTI</vt:lpstr>
      <vt:lpstr>Data visualisation with ggplot2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Irina Chelysheva</dc:creator>
  <cp:lastModifiedBy>Irina Chelysheva</cp:lastModifiedBy>
  <cp:revision>9</cp:revision>
  <dcterms:created xsi:type="dcterms:W3CDTF">2025-06-06T11:22:21Z</dcterms:created>
  <dcterms:modified xsi:type="dcterms:W3CDTF">2026-02-27T09:59:57Z</dcterms:modified>
</cp:coreProperties>
</file>